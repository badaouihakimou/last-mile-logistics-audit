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65" r:id="rId3"/>
    <p:sldId id="257" r:id="rId4"/>
    <p:sldId id="258" r:id="rId5"/>
    <p:sldId id="259" r:id="rId6"/>
    <p:sldId id="260" r:id="rId7"/>
    <p:sldId id="261" r:id="rId8"/>
    <p:sldId id="266" r:id="rId9"/>
    <p:sldId id="263" r:id="rId10"/>
    <p:sldId id="264"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9" d="100"/>
          <a:sy n="129" d="100"/>
        </p:scale>
        <p:origin x="132"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89751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sp>
      <p:sp>
        <p:nvSpPr>
          <p:cNvPr id="30" name="Label"/>
          <p:cNvSpPr/>
          <p:nvPr/>
        </p:nvSpPr>
        <p:spPr>
          <a:xfrm>
            <a:off x="457200" y="457200"/>
            <a:ext cx="8229600" cy="280000"/>
          </a:xfrm>
          <a:prstGeom prst="rect">
            <a:avLst/>
          </a:prstGeom>
          <a:noFill/>
          <a:ln/>
        </p:spPr>
        <p:txBody>
          <a:bodyPr wrap="square" lIns="0" tIns="0" rIns="0" bIns="0" rtlCol="0" anchor="ctr"/>
          <a:lstStyle/>
          <a:p>
            <a:pPr marL="0" indent="0" algn="ctr">
              <a:buNone/>
            </a:pPr>
            <a:r>
              <a:rPr lang="en-US" sz="900" b="0" dirty="0">
                <a:solidFill>
                  <a:srgbClr val="475569"/>
                </a:solidFill>
                <a:latin typeface="Calibri" pitchFamily="34" charset="0"/>
              </a:rPr>
              <a:t>AMALITECH TECHNICAL ASSESSMENT  ·  DATA ANALYTICS</a:t>
            </a:r>
          </a:p>
        </p:txBody>
      </p:sp>
      <p:sp>
        <p:nvSpPr>
          <p:cNvPr id="31" name="AuthorBig"/>
          <p:cNvSpPr/>
          <p:nvPr/>
        </p:nvSpPr>
        <p:spPr>
          <a:xfrm>
            <a:off x="457200" y="1100000"/>
            <a:ext cx="8229600" cy="1350000"/>
          </a:xfrm>
          <a:prstGeom prst="rect">
            <a:avLst/>
          </a:prstGeom>
          <a:noFill/>
          <a:ln/>
        </p:spPr>
        <p:txBody>
          <a:bodyPr wrap="square" lIns="0" tIns="0" rIns="0" bIns="0" rtlCol="0" anchor="ctr"/>
          <a:lstStyle/>
          <a:p>
            <a:pPr marL="0" indent="0" algn="ctr">
              <a:buNone/>
            </a:pPr>
            <a:r>
              <a:rPr lang="en-US" sz="4400" b="1" dirty="0">
                <a:solidFill>
                  <a:srgbClr val="FFFFFF"/>
                </a:solidFill>
                <a:latin typeface="Calibri" pitchFamily="34" charset="0"/>
              </a:rPr>
              <a:t>Abdelhakim Moustapha Mahamat</a:t>
            </a:r>
          </a:p>
        </p:txBody>
      </p:sp>
      <p:sp>
        <p:nvSpPr>
          <p:cNvPr id="32" name="Sep"/>
          <p:cNvSpPr/>
          <p:nvPr/>
        </p:nvSpPr>
        <p:spPr>
          <a:xfrm>
            <a:off x="3200400" y="2560000"/>
            <a:ext cx="2743200" cy="36576"/>
          </a:xfrm>
          <a:prstGeom prst="rect">
            <a:avLst/>
          </a:prstGeom>
          <a:solidFill>
            <a:srgbClr val="0D9488"/>
          </a:solidFill>
          <a:ln w="12700">
            <a:solidFill>
              <a:srgbClr val="0D9488"/>
            </a:solidFill>
            <a:prstDash val="solid"/>
          </a:ln>
        </p:spPr>
      </p:sp>
      <p:sp>
        <p:nvSpPr>
          <p:cNvPr id="3" name="Text 1"/>
          <p:cNvSpPr/>
          <p:nvPr/>
        </p:nvSpPr>
        <p:spPr>
          <a:xfrm>
            <a:off x="457200" y="2640000"/>
            <a:ext cx="8229600" cy="72000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rPr>
              <a:t>Veridi Logistics Audit</a:t>
            </a:r>
          </a:p>
        </p:txBody>
      </p:sp>
      <p:sp>
        <p:nvSpPr>
          <p:cNvPr id="4" name="Text 2"/>
          <p:cNvSpPr/>
          <p:nvPr/>
        </p:nvSpPr>
        <p:spPr>
          <a:xfrm>
            <a:off x="457200" y="3380000"/>
            <a:ext cx="8229600" cy="420000"/>
          </a:xfrm>
          <a:prstGeom prst="rect">
            <a:avLst/>
          </a:prstGeom>
          <a:noFill/>
          <a:ln/>
        </p:spPr>
        <p:txBody>
          <a:bodyPr wrap="square" lIns="0" tIns="0" rIns="0" bIns="0" rtlCol="0" anchor="ctr"/>
          <a:lstStyle/>
          <a:p>
            <a:pPr marL="0" indent="0" algn="ctr">
              <a:buNone/>
            </a:pPr>
            <a:r>
              <a:rPr lang="en-US" sz="1600" dirty="0">
                <a:solidFill>
                  <a:srgbClr val="A0C4FF"/>
                </a:solidFill>
                <a:latin typeface="Calibri" pitchFamily="34" charset="0"/>
              </a:rPr>
              <a:t>Delivery Performance &amp; Customer Sentiment Analysis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Context">
    <p:bg>
      <p:bgPr>
        <a:solidFill>
          <a:srgbClr val="F8FAFC"/>
        </a:solidFill>
        <a:effectLst/>
      </p:bgPr>
    </p:bg>
    <p:spTree>
      <p:nvGrpSpPr>
        <p:cNvPr id="1" name=""/>
        <p:cNvGrpSpPr/>
        <p:nvPr/>
      </p:nvGrpSpPr>
      <p:grpSpPr>
        <a:xfrm>
          <a:off x="0" y="0"/>
          <a:ext cx="0" cy="0"/>
          <a:chOff x="0" y="0"/>
          <a:chExt cx="0" cy="0"/>
        </a:xfrm>
      </p:grpSpPr>
      <p:sp>
        <p:nvSpPr>
          <p:cNvPr id="2" name="HeaderBar"/>
          <p:cNvSpPr/>
          <p:nvPr/>
        </p:nvSpPr>
        <p:spPr>
          <a:xfrm>
            <a:off x="0" y="0"/>
            <a:ext cx="9144000" cy="685800"/>
          </a:xfrm>
          <a:prstGeom prst="rect">
            <a:avLst/>
          </a:prstGeom>
          <a:solidFill>
            <a:srgbClr val="0D1B2A"/>
          </a:solidFill>
          <a:ln w="12700">
            <a:solidFill>
              <a:srgbClr val="0D1B2A"/>
            </a:solidFill>
            <a:prstDash val="solid"/>
          </a:ln>
        </p:spPr>
      </p:sp>
      <p:sp>
        <p:nvSpPr>
          <p:cNvPr id="3" name="AccentBar"/>
          <p:cNvSpPr/>
          <p:nvPr/>
        </p:nvSpPr>
        <p:spPr>
          <a:xfrm>
            <a:off x="0" y="685800"/>
            <a:ext cx="164592" cy="4457700"/>
          </a:xfrm>
          <a:prstGeom prst="rect">
            <a:avLst/>
          </a:prstGeom>
          <a:solidFill>
            <a:srgbClr val="0D9488"/>
          </a:solidFill>
          <a:ln w="12700">
            <a:solidFill>
              <a:srgbClr val="0D9488"/>
            </a:solidFill>
            <a:prstDash val="solid"/>
          </a:ln>
        </p:spPr>
      </p:sp>
      <p:sp>
        <p:nvSpPr>
          <p:cNvPr id="4" name="HeaderTitle"/>
          <p:cNvSpPr/>
          <p:nvPr/>
        </p:nvSpPr>
        <p:spPr>
          <a:xfrm>
            <a:off x="365760" y="0"/>
            <a:ext cx="8229600" cy="685800"/>
          </a:xfrm>
          <a:prstGeom prst="rect">
            <a:avLst/>
          </a:prstGeom>
          <a:noFill/>
          <a:ln/>
        </p:spPr>
        <p:txBody>
          <a:bodyPr wrap="square" lIns="0" tIns="0" rIns="0" bIns="0" rtlCol="0" anchor="ctr"/>
          <a:lstStyle/>
          <a:p>
            <a:pPr marL="0" indent="0">
              <a:buNone/>
            </a:pPr>
            <a:r>
              <a:rPr lang="en-US" sz="2000" b="1" dirty="0">
                <a:solidFill>
                  <a:srgbClr val="FFFFFF"/>
                </a:solidFill>
              </a:rPr>
              <a:t>Problem Overview &amp; Project Context</a:t>
            </a:r>
          </a:p>
        </p:txBody>
      </p:sp>
      <p:sp>
        <p:nvSpPr>
          <p:cNvPr id="5" name="LeftCard"/>
          <p:cNvSpPr/>
          <p:nvPr/>
        </p:nvSpPr>
        <p:spPr>
          <a:xfrm>
            <a:off x="274638" y="777240"/>
            <a:ext cx="4206240" cy="4091880"/>
          </a:xfrm>
          <a:prstGeom prst="rect">
            <a:avLst/>
          </a:prstGeom>
          <a:solidFill>
            <a:srgbClr val="FFFFFF"/>
          </a:solidFill>
          <a:ln w="19050">
            <a:solidFill>
              <a:srgbClr val="E2E8F0"/>
            </a:solidFill>
            <a:prstDash val="solid"/>
          </a:ln>
        </p:spPr>
      </p:sp>
      <p:sp>
        <p:nvSpPr>
          <p:cNvPr id="6" name="ProblemLabel"/>
          <p:cNvSpPr/>
          <p:nvPr/>
        </p:nvSpPr>
        <p:spPr>
          <a:xfrm>
            <a:off x="274638" y="777240"/>
            <a:ext cx="4206240" cy="274638"/>
          </a:xfrm>
          <a:prstGeom prst="rect">
            <a:avLst/>
          </a:prstGeom>
          <a:solidFill>
            <a:srgbClr val="0D9488"/>
          </a:solidFill>
          <a:ln/>
        </p:spPr>
        <p:txBody>
          <a:bodyPr wrap="square" lIns="182880" tIns="45720" rIns="91440" bIns="45720" rtlCol="0" anchor="ctr"/>
          <a:lstStyle/>
          <a:p>
            <a:pPr marL="0" indent="0">
              <a:buNone/>
            </a:pPr>
            <a:r>
              <a:rPr lang="en-US" sz="1200" b="1" dirty="0">
                <a:solidFill>
                  <a:srgbClr val="FFFFFF"/>
                </a:solidFill>
              </a:rPr>
              <a:t>PROBLEM STATEMENT</a:t>
            </a:r>
          </a:p>
        </p:txBody>
      </p:sp>
      <p:sp>
        <p:nvSpPr>
          <p:cNvPr id="7" name="LeftBody"/>
          <p:cNvSpPr/>
          <p:nvPr/>
        </p:nvSpPr>
        <p:spPr>
          <a:xfrm>
            <a:off x="274638" y="1097280"/>
            <a:ext cx="4206240" cy="3771840"/>
          </a:xfrm>
          <a:prstGeom prst="rect">
            <a:avLst/>
          </a:prstGeom>
          <a:noFill/>
          <a:ln/>
        </p:spPr>
        <p:txBody>
          <a:bodyPr wrap="square" lIns="182880" tIns="182880" rIns="182880" bIns="182880" rtlCol="0" anchor="t"/>
          <a:lstStyle/>
          <a:p>
            <a:pPr marL="0" indent="0">
              <a:buNone/>
            </a:pPr>
            <a:r>
              <a:rPr lang="en-US" sz="1200" dirty="0">
                <a:solidFill>
                  <a:srgbClr val="334155"/>
                </a:solidFill>
              </a:rPr>
              <a:t>Veridi Logistics faces growing customer dissatisfaction linked to late deliveries across Brazil. Negative reviews threaten retention, yet no systematic audit had identified the geographic and seasonal root causes behind these delays.</a:t>
            </a:r>
          </a:p>
          <a:p>
            <a:pPr marL="0" indent="0">
              <a:buNone/>
            </a:pPr>
            <a:endParaRPr lang="en-US" sz="1200" dirty="0"/>
          </a:p>
          <a:p>
            <a:pPr marL="0" indent="0">
              <a:buNone/>
            </a:pPr>
            <a:r>
              <a:rPr lang="en-US" sz="1200" b="1" dirty="0">
                <a:solidFill>
                  <a:srgbClr val="0D9488"/>
                </a:solidFill>
              </a:rPr>
              <a:t>Objective</a:t>
            </a:r>
          </a:p>
          <a:p>
            <a:pPr marL="0" indent="0">
              <a:buNone/>
            </a:pPr>
            <a:r>
              <a:rPr lang="en-US" sz="1200" dirty="0">
                <a:solidFill>
                  <a:srgbClr val="334155"/>
                </a:solidFill>
              </a:rPr>
              <a:t>Audit last-mile delivery performance across 27 Brazilian states to pinpoint root causes of negative reviews, with focus on geographic disparities and seasonal delay patterns.</a:t>
            </a:r>
          </a:p>
          <a:p>
            <a:pPr marL="0" indent="0">
              <a:buNone/>
            </a:pPr>
            <a:endParaRPr lang="en-US" sz="1200" dirty="0"/>
          </a:p>
          <a:p>
            <a:pPr marL="0" indent="0">
              <a:buNone/>
            </a:pPr>
            <a:r>
              <a:rPr lang="en-US" sz="1200" b="1" dirty="0">
                <a:solidFill>
                  <a:srgbClr val="0D9488"/>
                </a:solidFill>
              </a:rPr>
              <a:t>Dataset &amp; Tools</a:t>
            </a:r>
          </a:p>
          <a:p>
            <a:pPr marL="0" indent="0">
              <a:buNone/>
            </a:pPr>
            <a:r>
              <a:rPr lang="en-US" sz="1200" dirty="0" err="1">
                <a:solidFill>
                  <a:srgbClr val="334155"/>
                </a:solidFill>
              </a:rPr>
              <a:t>Olist</a:t>
            </a:r>
            <a:r>
              <a:rPr lang="en-US" sz="1200" dirty="0">
                <a:solidFill>
                  <a:srgbClr val="334155"/>
                </a:solidFill>
              </a:rPr>
              <a:t> Brazilian E-Commerce (Kaggle) </a:t>
            </a:r>
            <a:r>
              <a:rPr lang="fr-FR" sz="1200" dirty="0"/>
              <a:t>·  </a:t>
            </a:r>
            <a:r>
              <a:rPr lang="en-US" sz="1200" dirty="0">
                <a:solidFill>
                  <a:srgbClr val="334155"/>
                </a:solidFill>
              </a:rPr>
              <a:t>96,478 delivered orders </a:t>
            </a:r>
            <a:r>
              <a:rPr lang="fr-FR" sz="1200" dirty="0"/>
              <a:t>·</a:t>
            </a:r>
            <a:r>
              <a:rPr lang="en-US" sz="1200" dirty="0">
                <a:solidFill>
                  <a:srgbClr val="334155"/>
                </a:solidFill>
              </a:rPr>
              <a:t> 2016-2018 </a:t>
            </a:r>
            <a:r>
              <a:rPr lang="fr-FR" sz="1200" dirty="0"/>
              <a:t>·</a:t>
            </a:r>
            <a:r>
              <a:rPr lang="en-US" sz="1200" dirty="0">
                <a:solidFill>
                  <a:srgbClr val="334155"/>
                </a:solidFill>
              </a:rPr>
              <a:t> </a:t>
            </a:r>
            <a:r>
              <a:rPr lang="en-US" sz="1200" dirty="0" err="1">
                <a:solidFill>
                  <a:srgbClr val="334155"/>
                </a:solidFill>
              </a:rPr>
              <a:t>Analysed</a:t>
            </a:r>
            <a:r>
              <a:rPr lang="en-US" sz="1200" dirty="0">
                <a:solidFill>
                  <a:srgbClr val="334155"/>
                </a:solidFill>
              </a:rPr>
              <a:t> with Python, Pandas, Seaborn, Matplotlib and </a:t>
            </a:r>
            <a:r>
              <a:rPr lang="en-US" sz="1200" dirty="0" err="1">
                <a:solidFill>
                  <a:srgbClr val="334155"/>
                </a:solidFill>
              </a:rPr>
              <a:t>GeoPandas</a:t>
            </a:r>
            <a:r>
              <a:rPr lang="en-US" sz="1200" dirty="0">
                <a:solidFill>
                  <a:srgbClr val="334155"/>
                </a:solidFill>
              </a:rPr>
              <a:t>. </a:t>
            </a:r>
          </a:p>
        </p:txBody>
      </p:sp>
      <p:sp>
        <p:nvSpPr>
          <p:cNvPr id="8" name="Stat1"/>
          <p:cNvSpPr/>
          <p:nvPr/>
        </p:nvSpPr>
        <p:spPr>
          <a:xfrm>
            <a:off x="4663200" y="777240"/>
            <a:ext cx="2100960" cy="1920240"/>
          </a:xfrm>
          <a:prstGeom prst="rect">
            <a:avLst/>
          </a:prstGeom>
          <a:solidFill>
            <a:srgbClr val="0D1B2A"/>
          </a:solidFill>
          <a:ln/>
        </p:spPr>
        <p:txBody>
          <a:bodyPr wrap="square" lIns="182880" tIns="182880" rIns="182880" bIns="182880" rtlCol="0" anchor="ctr"/>
          <a:lstStyle/>
          <a:p>
            <a:pPr marL="0" indent="0" algn="ctr">
              <a:buNone/>
            </a:pPr>
            <a:r>
              <a:rPr lang="en-US" sz="3000" b="1" dirty="0">
                <a:solidFill>
                  <a:srgbClr val="0D9488"/>
                </a:solidFill>
              </a:rPr>
              <a:t>96,478</a:t>
            </a:r>
          </a:p>
          <a:p>
            <a:pPr marL="0" indent="0" algn="ctr">
              <a:buNone/>
            </a:pPr>
            <a:r>
              <a:rPr lang="en-US" sz="1100" dirty="0">
                <a:solidFill>
                  <a:srgbClr val="94A3B8"/>
                </a:solidFill>
              </a:rPr>
              <a:t>orders audited</a:t>
            </a:r>
          </a:p>
        </p:txBody>
      </p:sp>
      <p:sp>
        <p:nvSpPr>
          <p:cNvPr id="9" name="Stat2"/>
          <p:cNvSpPr/>
          <p:nvPr/>
        </p:nvSpPr>
        <p:spPr>
          <a:xfrm>
            <a:off x="6945120" y="777240"/>
            <a:ext cx="2100960" cy="1920240"/>
          </a:xfrm>
          <a:prstGeom prst="rect">
            <a:avLst/>
          </a:prstGeom>
          <a:solidFill>
            <a:srgbClr val="0D1B2A"/>
          </a:solidFill>
          <a:ln/>
        </p:spPr>
        <p:txBody>
          <a:bodyPr wrap="square" lIns="182880" tIns="182880" rIns="182880" bIns="182880" rtlCol="0" anchor="ctr"/>
          <a:lstStyle/>
          <a:p>
            <a:pPr marL="0" indent="0" algn="ctr">
              <a:buNone/>
            </a:pPr>
            <a:r>
              <a:rPr lang="en-US" sz="3600" b="1" dirty="0">
                <a:solidFill>
                  <a:srgbClr val="0D9488"/>
                </a:solidFill>
              </a:rPr>
              <a:t>27</a:t>
            </a:r>
          </a:p>
          <a:p>
            <a:pPr marL="0" indent="0" algn="ctr">
              <a:buNone/>
            </a:pPr>
            <a:r>
              <a:rPr lang="en-US" sz="1100" dirty="0">
                <a:solidFill>
                  <a:srgbClr val="94A3B8"/>
                </a:solidFill>
              </a:rPr>
              <a:t>Brazilian states</a:t>
            </a:r>
          </a:p>
        </p:txBody>
      </p:sp>
      <p:sp>
        <p:nvSpPr>
          <p:cNvPr id="10" name="Stat3"/>
          <p:cNvSpPr/>
          <p:nvPr/>
        </p:nvSpPr>
        <p:spPr>
          <a:xfrm>
            <a:off x="4663200" y="2788920"/>
            <a:ext cx="2100960" cy="2058120"/>
          </a:xfrm>
          <a:prstGeom prst="rect">
            <a:avLst/>
          </a:prstGeom>
          <a:solidFill>
            <a:srgbClr val="DC2626">
              <a:alpha val="10000"/>
            </a:srgbClr>
          </a:solidFill>
          <a:ln w="19050">
            <a:solidFill>
              <a:srgbClr val="DC2626"/>
            </a:solidFill>
            <a:prstDash val="solid"/>
          </a:ln>
        </p:spPr>
        <p:txBody>
          <a:bodyPr wrap="square" lIns="182880" tIns="182880" rIns="182880" bIns="182880" rtlCol="0" anchor="ctr"/>
          <a:lstStyle/>
          <a:p>
            <a:pPr marL="0" indent="0" algn="ctr">
              <a:buNone/>
            </a:pPr>
            <a:r>
              <a:rPr lang="en-US" sz="3200" b="1" dirty="0">
                <a:solidFill>
                  <a:srgbClr val="DC2626"/>
                </a:solidFill>
              </a:rPr>
              <a:t>-58%</a:t>
            </a:r>
          </a:p>
          <a:p>
            <a:pPr marL="0" indent="0" algn="ctr">
              <a:buNone/>
            </a:pPr>
            <a:r>
              <a:rPr lang="en-US" sz="1100" dirty="0">
                <a:solidFill>
                  <a:srgbClr val="64748B"/>
                </a:solidFill>
              </a:rPr>
              <a:t>review score drop super-late vs on-time</a:t>
            </a:r>
          </a:p>
        </p:txBody>
      </p:sp>
      <p:sp>
        <p:nvSpPr>
          <p:cNvPr id="11" name="Stat4"/>
          <p:cNvSpPr/>
          <p:nvPr/>
        </p:nvSpPr>
        <p:spPr>
          <a:xfrm>
            <a:off x="6945120" y="2788920"/>
            <a:ext cx="2100960" cy="2058120"/>
          </a:xfrm>
          <a:prstGeom prst="rect">
            <a:avLst/>
          </a:prstGeom>
          <a:solidFill>
            <a:srgbClr val="EA580C">
              <a:alpha val="10000"/>
            </a:srgbClr>
          </a:solidFill>
          <a:ln w="19050">
            <a:solidFill>
              <a:srgbClr val="EA580C"/>
            </a:solidFill>
            <a:prstDash val="solid"/>
          </a:ln>
        </p:spPr>
        <p:txBody>
          <a:bodyPr wrap="square" lIns="182880" tIns="182880" rIns="182880" bIns="182880" rtlCol="0" anchor="ctr"/>
          <a:lstStyle/>
          <a:p>
            <a:pPr marL="0" indent="0" algn="ctr">
              <a:buNone/>
            </a:pPr>
            <a:r>
              <a:rPr lang="en-US" sz="3600" b="1" dirty="0">
                <a:solidFill>
                  <a:srgbClr val="EA580C"/>
                </a:solidFill>
              </a:rPr>
              <a:t>5</a:t>
            </a:r>
          </a:p>
          <a:p>
            <a:pPr marL="0" indent="0" algn="ctr">
              <a:buNone/>
            </a:pPr>
            <a:r>
              <a:rPr lang="en-US" sz="1100" dirty="0">
                <a:solidFill>
                  <a:srgbClr val="64748B"/>
                </a:solidFill>
              </a:rPr>
              <a:t>Northeast states critical late rate &gt;=15%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Text 1"/>
          <p:cNvSpPr/>
          <p:nvPr/>
        </p:nvSpPr>
        <p:spPr>
          <a:xfrm>
            <a:off x="365760" y="0"/>
            <a:ext cx="822960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Agenda</a:t>
            </a:r>
            <a:endParaRPr lang="en-US" sz="2200" dirty="0"/>
          </a:p>
        </p:txBody>
      </p:sp>
      <p:sp>
        <p:nvSpPr>
          <p:cNvPr id="4" name="Shape 2"/>
          <p:cNvSpPr/>
          <p:nvPr/>
        </p:nvSpPr>
        <p:spPr>
          <a:xfrm>
            <a:off x="365760" y="960120"/>
            <a:ext cx="4114800" cy="1097280"/>
          </a:xfrm>
          <a:prstGeom prst="rect">
            <a:avLst/>
          </a:prstGeom>
          <a:solidFill>
            <a:srgbClr val="FFFFFF"/>
          </a:solidFill>
          <a:ln w="12700">
            <a:solidFill>
              <a:srgbClr val="E2E8F0"/>
            </a:solidFill>
            <a:prstDash val="solid"/>
          </a:ln>
        </p:spPr>
      </p:sp>
      <p:sp>
        <p:nvSpPr>
          <p:cNvPr id="5" name="Shape 3"/>
          <p:cNvSpPr/>
          <p:nvPr/>
        </p:nvSpPr>
        <p:spPr>
          <a:xfrm>
            <a:off x="365760" y="960120"/>
            <a:ext cx="91440" cy="1097280"/>
          </a:xfrm>
          <a:prstGeom prst="rect">
            <a:avLst/>
          </a:prstGeom>
          <a:solidFill>
            <a:srgbClr val="0D9488"/>
          </a:solidFill>
          <a:ln w="12700">
            <a:solidFill>
              <a:srgbClr val="0D9488"/>
            </a:solidFill>
            <a:prstDash val="solid"/>
          </a:ln>
        </p:spPr>
      </p:sp>
      <p:sp>
        <p:nvSpPr>
          <p:cNvPr id="6" name="Text 4"/>
          <p:cNvSpPr/>
          <p:nvPr/>
        </p:nvSpPr>
        <p:spPr>
          <a:xfrm>
            <a:off x="530352" y="1005840"/>
            <a:ext cx="502920" cy="457200"/>
          </a:xfrm>
          <a:prstGeom prst="rect">
            <a:avLst/>
          </a:prstGeom>
          <a:noFill/>
          <a:ln/>
        </p:spPr>
        <p:txBody>
          <a:bodyPr wrap="square" lIns="0" tIns="0" rIns="0" bIns="0" rtlCol="0" anchor="ctr"/>
          <a:lstStyle/>
          <a:p>
            <a:pPr marL="0" indent="0">
              <a:buNone/>
            </a:pPr>
            <a:r>
              <a:rPr lang="en-US" sz="2200" b="1" dirty="0">
                <a:solidFill>
                  <a:srgbClr val="0D9488"/>
                </a:solidFill>
              </a:rPr>
              <a:t>01</a:t>
            </a:r>
            <a:endParaRPr lang="en-US" sz="2200" dirty="0"/>
          </a:p>
        </p:txBody>
      </p:sp>
      <p:sp>
        <p:nvSpPr>
          <p:cNvPr id="7" name="Text 5"/>
          <p:cNvSpPr/>
          <p:nvPr/>
        </p:nvSpPr>
        <p:spPr>
          <a:xfrm>
            <a:off x="1051560" y="1033272"/>
            <a:ext cx="3291840" cy="411480"/>
          </a:xfrm>
          <a:prstGeom prst="rect">
            <a:avLst/>
          </a:prstGeom>
          <a:noFill/>
          <a:ln/>
        </p:spPr>
        <p:txBody>
          <a:bodyPr wrap="square" lIns="0" tIns="0" rIns="0" bIns="0" rtlCol="0" anchor="ctr"/>
          <a:lstStyle/>
          <a:p>
            <a:pPr marL="0" indent="0">
              <a:buNone/>
            </a:pPr>
            <a:r>
              <a:rPr lang="en-US" sz="1600" b="1" dirty="0">
                <a:solidFill>
                  <a:srgbClr val="0D1B2A"/>
                </a:solidFill>
              </a:rPr>
              <a:t>Delivery Status Overview</a:t>
            </a:r>
            <a:endParaRPr lang="en-US" sz="1300" dirty="0"/>
          </a:p>
        </p:txBody>
      </p:sp>
      <p:sp>
        <p:nvSpPr>
          <p:cNvPr id="8" name="Text 6"/>
          <p:cNvSpPr/>
          <p:nvPr/>
        </p:nvSpPr>
        <p:spPr>
          <a:xfrm>
            <a:off x="1051560" y="1463040"/>
            <a:ext cx="3291840" cy="502920"/>
          </a:xfrm>
          <a:prstGeom prst="rect">
            <a:avLst/>
          </a:prstGeom>
          <a:noFill/>
          <a:ln/>
        </p:spPr>
        <p:txBody>
          <a:bodyPr wrap="square" lIns="0" tIns="0" rIns="0" bIns="0" rtlCol="0" anchor="ctr"/>
          <a:lstStyle/>
          <a:p>
            <a:pPr marL="0" indent="0">
              <a:buNone/>
            </a:pPr>
            <a:r>
              <a:rPr lang="en-US" sz="1400" dirty="0">
                <a:solidFill>
                  <a:srgbClr val="64748B"/>
                </a:solidFill>
              </a:rPr>
              <a:t>Overall distribution across on-time, late, and super-late categories</a:t>
            </a:r>
            <a:endParaRPr lang="en-US" sz="1400" dirty="0"/>
          </a:p>
        </p:txBody>
      </p:sp>
      <p:sp>
        <p:nvSpPr>
          <p:cNvPr id="9" name="Shape 7"/>
          <p:cNvSpPr/>
          <p:nvPr/>
        </p:nvSpPr>
        <p:spPr>
          <a:xfrm>
            <a:off x="4846320" y="960120"/>
            <a:ext cx="4114800" cy="1097280"/>
          </a:xfrm>
          <a:prstGeom prst="rect">
            <a:avLst/>
          </a:prstGeom>
          <a:solidFill>
            <a:srgbClr val="FFFFFF"/>
          </a:solidFill>
          <a:ln w="12700">
            <a:solidFill>
              <a:srgbClr val="E2E8F0"/>
            </a:solidFill>
            <a:prstDash val="solid"/>
          </a:ln>
        </p:spPr>
      </p:sp>
      <p:sp>
        <p:nvSpPr>
          <p:cNvPr id="10" name="Shape 8"/>
          <p:cNvSpPr/>
          <p:nvPr/>
        </p:nvSpPr>
        <p:spPr>
          <a:xfrm>
            <a:off x="4846320" y="960120"/>
            <a:ext cx="91440" cy="1097280"/>
          </a:xfrm>
          <a:prstGeom prst="rect">
            <a:avLst/>
          </a:prstGeom>
          <a:solidFill>
            <a:srgbClr val="0D9488"/>
          </a:solidFill>
          <a:ln w="12700">
            <a:solidFill>
              <a:srgbClr val="0D9488"/>
            </a:solidFill>
            <a:prstDash val="solid"/>
          </a:ln>
        </p:spPr>
      </p:sp>
      <p:sp>
        <p:nvSpPr>
          <p:cNvPr id="11" name="Text 9"/>
          <p:cNvSpPr/>
          <p:nvPr/>
        </p:nvSpPr>
        <p:spPr>
          <a:xfrm>
            <a:off x="5010912" y="1005840"/>
            <a:ext cx="502920" cy="457200"/>
          </a:xfrm>
          <a:prstGeom prst="rect">
            <a:avLst/>
          </a:prstGeom>
          <a:noFill/>
          <a:ln/>
        </p:spPr>
        <p:txBody>
          <a:bodyPr wrap="square" lIns="0" tIns="0" rIns="0" bIns="0" rtlCol="0" anchor="ctr"/>
          <a:lstStyle/>
          <a:p>
            <a:pPr marL="0" indent="0">
              <a:buNone/>
            </a:pPr>
            <a:r>
              <a:rPr lang="en-US" sz="2200" b="1" dirty="0">
                <a:solidFill>
                  <a:srgbClr val="0D9488"/>
                </a:solidFill>
              </a:rPr>
              <a:t>02</a:t>
            </a:r>
            <a:endParaRPr lang="en-US" sz="2200" dirty="0"/>
          </a:p>
        </p:txBody>
      </p:sp>
      <p:sp>
        <p:nvSpPr>
          <p:cNvPr id="12" name="Text 10"/>
          <p:cNvSpPr/>
          <p:nvPr/>
        </p:nvSpPr>
        <p:spPr>
          <a:xfrm>
            <a:off x="5532120" y="1033272"/>
            <a:ext cx="3291840" cy="411480"/>
          </a:xfrm>
          <a:prstGeom prst="rect">
            <a:avLst/>
          </a:prstGeom>
          <a:noFill/>
          <a:ln/>
        </p:spPr>
        <p:txBody>
          <a:bodyPr wrap="square" lIns="0" tIns="0" rIns="0" bIns="0" rtlCol="0" anchor="ctr"/>
          <a:lstStyle/>
          <a:p>
            <a:pPr marL="0" indent="0">
              <a:buNone/>
            </a:pPr>
            <a:r>
              <a:rPr lang="en-US" sz="1600" b="1" dirty="0">
                <a:solidFill>
                  <a:srgbClr val="0D1B2A"/>
                </a:solidFill>
              </a:rPr>
              <a:t>Customer Sentiment Analysis</a:t>
            </a:r>
            <a:endParaRPr lang="en-US" sz="1300" dirty="0"/>
          </a:p>
        </p:txBody>
      </p:sp>
      <p:sp>
        <p:nvSpPr>
          <p:cNvPr id="13" name="Text 11"/>
          <p:cNvSpPr/>
          <p:nvPr/>
        </p:nvSpPr>
        <p:spPr>
          <a:xfrm>
            <a:off x="5532120" y="1463040"/>
            <a:ext cx="3291840" cy="502920"/>
          </a:xfrm>
          <a:prstGeom prst="rect">
            <a:avLst/>
          </a:prstGeom>
          <a:noFill/>
          <a:ln/>
        </p:spPr>
        <p:txBody>
          <a:bodyPr wrap="square" lIns="0" tIns="0" rIns="0" bIns="0" rtlCol="0" anchor="ctr"/>
          <a:lstStyle/>
          <a:p>
            <a:pPr marL="0" indent="0">
              <a:buNone/>
            </a:pPr>
            <a:r>
              <a:rPr lang="en-US" sz="1400" dirty="0">
                <a:solidFill>
                  <a:srgbClr val="64748B"/>
                </a:solidFill>
              </a:rPr>
              <a:t>Review scores correlated with delivery punctuality</a:t>
            </a:r>
            <a:endParaRPr lang="en-US" sz="1000" dirty="0"/>
          </a:p>
        </p:txBody>
      </p:sp>
      <p:sp>
        <p:nvSpPr>
          <p:cNvPr id="14" name="Shape 12"/>
          <p:cNvSpPr/>
          <p:nvPr/>
        </p:nvSpPr>
        <p:spPr>
          <a:xfrm>
            <a:off x="365760" y="2240280"/>
            <a:ext cx="4114800" cy="1097280"/>
          </a:xfrm>
          <a:prstGeom prst="rect">
            <a:avLst/>
          </a:prstGeom>
          <a:solidFill>
            <a:srgbClr val="FFFFFF"/>
          </a:solidFill>
          <a:ln w="12700">
            <a:solidFill>
              <a:srgbClr val="E2E8F0"/>
            </a:solidFill>
            <a:prstDash val="solid"/>
          </a:ln>
        </p:spPr>
      </p:sp>
      <p:sp>
        <p:nvSpPr>
          <p:cNvPr id="15" name="Shape 13"/>
          <p:cNvSpPr/>
          <p:nvPr/>
        </p:nvSpPr>
        <p:spPr>
          <a:xfrm>
            <a:off x="365760" y="2240280"/>
            <a:ext cx="91440" cy="1097280"/>
          </a:xfrm>
          <a:prstGeom prst="rect">
            <a:avLst/>
          </a:prstGeom>
          <a:solidFill>
            <a:srgbClr val="0D9488"/>
          </a:solidFill>
          <a:ln w="12700">
            <a:solidFill>
              <a:srgbClr val="0D9488"/>
            </a:solidFill>
            <a:prstDash val="solid"/>
          </a:ln>
        </p:spPr>
      </p:sp>
      <p:sp>
        <p:nvSpPr>
          <p:cNvPr id="16" name="Text 14"/>
          <p:cNvSpPr/>
          <p:nvPr/>
        </p:nvSpPr>
        <p:spPr>
          <a:xfrm>
            <a:off x="530352" y="2286000"/>
            <a:ext cx="502920" cy="457200"/>
          </a:xfrm>
          <a:prstGeom prst="rect">
            <a:avLst/>
          </a:prstGeom>
          <a:noFill/>
          <a:ln/>
        </p:spPr>
        <p:txBody>
          <a:bodyPr wrap="square" lIns="0" tIns="0" rIns="0" bIns="0" rtlCol="0" anchor="ctr"/>
          <a:lstStyle/>
          <a:p>
            <a:pPr marL="0" indent="0">
              <a:buNone/>
            </a:pPr>
            <a:r>
              <a:rPr lang="en-US" sz="2200" b="1" dirty="0">
                <a:solidFill>
                  <a:srgbClr val="0D9488"/>
                </a:solidFill>
              </a:rPr>
              <a:t>03</a:t>
            </a:r>
            <a:endParaRPr lang="en-US" sz="2200" dirty="0"/>
          </a:p>
        </p:txBody>
      </p:sp>
      <p:sp>
        <p:nvSpPr>
          <p:cNvPr id="17" name="Text 15"/>
          <p:cNvSpPr/>
          <p:nvPr/>
        </p:nvSpPr>
        <p:spPr>
          <a:xfrm>
            <a:off x="1051560" y="2313432"/>
            <a:ext cx="3291840" cy="411480"/>
          </a:xfrm>
          <a:prstGeom prst="rect">
            <a:avLst/>
          </a:prstGeom>
          <a:noFill/>
          <a:ln/>
        </p:spPr>
        <p:txBody>
          <a:bodyPr wrap="square" lIns="0" tIns="0" rIns="0" bIns="0" rtlCol="0" anchor="ctr"/>
          <a:lstStyle/>
          <a:p>
            <a:pPr marL="0" indent="0">
              <a:buNone/>
            </a:pPr>
            <a:r>
              <a:rPr lang="en-US" sz="1600" b="1" dirty="0">
                <a:solidFill>
                  <a:srgbClr val="0D1B2A"/>
                </a:solidFill>
              </a:rPr>
              <a:t>Review Score Distribution</a:t>
            </a:r>
            <a:endParaRPr lang="en-US" sz="1300" dirty="0"/>
          </a:p>
        </p:txBody>
      </p:sp>
      <p:sp>
        <p:nvSpPr>
          <p:cNvPr id="18" name="Text 16"/>
          <p:cNvSpPr/>
          <p:nvPr/>
        </p:nvSpPr>
        <p:spPr>
          <a:xfrm>
            <a:off x="1051560" y="2743200"/>
            <a:ext cx="3291840" cy="502920"/>
          </a:xfrm>
          <a:prstGeom prst="rect">
            <a:avLst/>
          </a:prstGeom>
          <a:noFill/>
          <a:ln/>
        </p:spPr>
        <p:txBody>
          <a:bodyPr wrap="square" lIns="0" tIns="0" rIns="0" bIns="0" rtlCol="0" anchor="ctr"/>
          <a:lstStyle/>
          <a:p>
            <a:pPr marL="0" indent="0">
              <a:buNone/>
            </a:pPr>
            <a:r>
              <a:rPr lang="en-US" sz="1400" dirty="0">
                <a:solidFill>
                  <a:srgbClr val="64748B"/>
                </a:solidFill>
              </a:rPr>
              <a:t>Breakdown of review scores per delivery status group</a:t>
            </a:r>
            <a:endParaRPr lang="en-US" sz="1000" dirty="0"/>
          </a:p>
        </p:txBody>
      </p:sp>
      <p:sp>
        <p:nvSpPr>
          <p:cNvPr id="19" name="Shape 17"/>
          <p:cNvSpPr/>
          <p:nvPr/>
        </p:nvSpPr>
        <p:spPr>
          <a:xfrm>
            <a:off x="4846320" y="2240280"/>
            <a:ext cx="4114800" cy="1097280"/>
          </a:xfrm>
          <a:prstGeom prst="rect">
            <a:avLst/>
          </a:prstGeom>
          <a:solidFill>
            <a:srgbClr val="FFFFFF"/>
          </a:solidFill>
          <a:ln w="12700">
            <a:solidFill>
              <a:srgbClr val="E2E8F0"/>
            </a:solidFill>
            <a:prstDash val="solid"/>
          </a:ln>
        </p:spPr>
      </p:sp>
      <p:sp>
        <p:nvSpPr>
          <p:cNvPr id="20" name="Shape 18"/>
          <p:cNvSpPr/>
          <p:nvPr/>
        </p:nvSpPr>
        <p:spPr>
          <a:xfrm>
            <a:off x="4846320" y="2240280"/>
            <a:ext cx="91440" cy="1097280"/>
          </a:xfrm>
          <a:prstGeom prst="rect">
            <a:avLst/>
          </a:prstGeom>
          <a:solidFill>
            <a:srgbClr val="0D9488"/>
          </a:solidFill>
          <a:ln w="12700">
            <a:solidFill>
              <a:srgbClr val="0D9488"/>
            </a:solidFill>
            <a:prstDash val="solid"/>
          </a:ln>
        </p:spPr>
      </p:sp>
      <p:sp>
        <p:nvSpPr>
          <p:cNvPr id="21" name="Text 19"/>
          <p:cNvSpPr/>
          <p:nvPr/>
        </p:nvSpPr>
        <p:spPr>
          <a:xfrm>
            <a:off x="5010912" y="2286000"/>
            <a:ext cx="502920" cy="457200"/>
          </a:xfrm>
          <a:prstGeom prst="rect">
            <a:avLst/>
          </a:prstGeom>
          <a:noFill/>
          <a:ln/>
        </p:spPr>
        <p:txBody>
          <a:bodyPr wrap="square" lIns="0" tIns="0" rIns="0" bIns="0" rtlCol="0" anchor="ctr"/>
          <a:lstStyle/>
          <a:p>
            <a:pPr marL="0" indent="0">
              <a:buNone/>
            </a:pPr>
            <a:r>
              <a:rPr lang="en-US" sz="2200" b="1" dirty="0">
                <a:solidFill>
                  <a:srgbClr val="0D9488"/>
                </a:solidFill>
              </a:rPr>
              <a:t>04</a:t>
            </a:r>
            <a:endParaRPr lang="en-US" sz="2200" dirty="0"/>
          </a:p>
        </p:txBody>
      </p:sp>
      <p:sp>
        <p:nvSpPr>
          <p:cNvPr id="22" name="Text 20"/>
          <p:cNvSpPr/>
          <p:nvPr/>
        </p:nvSpPr>
        <p:spPr>
          <a:xfrm>
            <a:off x="5532120" y="2313432"/>
            <a:ext cx="3291840" cy="411480"/>
          </a:xfrm>
          <a:prstGeom prst="rect">
            <a:avLst/>
          </a:prstGeom>
          <a:noFill/>
          <a:ln/>
        </p:spPr>
        <p:txBody>
          <a:bodyPr wrap="square" lIns="0" tIns="0" rIns="0" bIns="0" rtlCol="0" anchor="ctr"/>
          <a:lstStyle/>
          <a:p>
            <a:pPr marL="0" indent="0">
              <a:buNone/>
            </a:pPr>
            <a:r>
              <a:rPr lang="en-US" sz="1600" b="1" dirty="0">
                <a:solidFill>
                  <a:srgbClr val="0D1B2A"/>
                </a:solidFill>
              </a:rPr>
              <a:t>Seasonality &amp; Peak Periods</a:t>
            </a:r>
            <a:endParaRPr lang="en-US" sz="1300" dirty="0"/>
          </a:p>
        </p:txBody>
      </p:sp>
      <p:sp>
        <p:nvSpPr>
          <p:cNvPr id="23" name="Text 21"/>
          <p:cNvSpPr/>
          <p:nvPr/>
        </p:nvSpPr>
        <p:spPr>
          <a:xfrm>
            <a:off x="5532120" y="2743200"/>
            <a:ext cx="3291840" cy="502920"/>
          </a:xfrm>
          <a:prstGeom prst="rect">
            <a:avLst/>
          </a:prstGeom>
          <a:noFill/>
          <a:ln/>
        </p:spPr>
        <p:txBody>
          <a:bodyPr wrap="square" lIns="0" tIns="0" rIns="0" bIns="0" rtlCol="0" anchor="ctr"/>
          <a:lstStyle/>
          <a:p>
            <a:pPr marL="0" indent="0">
              <a:buNone/>
            </a:pPr>
            <a:r>
              <a:rPr lang="en-US" sz="1400" dirty="0">
                <a:solidFill>
                  <a:srgbClr val="64748B"/>
                </a:solidFill>
              </a:rPr>
              <a:t>Monthly late delivery rate with event annotations</a:t>
            </a:r>
            <a:endParaRPr lang="en-US" sz="1000" dirty="0"/>
          </a:p>
        </p:txBody>
      </p:sp>
      <p:sp>
        <p:nvSpPr>
          <p:cNvPr id="24" name="Shape 22"/>
          <p:cNvSpPr/>
          <p:nvPr/>
        </p:nvSpPr>
        <p:spPr>
          <a:xfrm>
            <a:off x="365760" y="3520440"/>
            <a:ext cx="4114800" cy="1097280"/>
          </a:xfrm>
          <a:prstGeom prst="rect">
            <a:avLst/>
          </a:prstGeom>
          <a:solidFill>
            <a:srgbClr val="FFFFFF"/>
          </a:solidFill>
          <a:ln w="12700">
            <a:solidFill>
              <a:srgbClr val="E2E8F0"/>
            </a:solidFill>
            <a:prstDash val="solid"/>
          </a:ln>
        </p:spPr>
      </p:sp>
      <p:sp>
        <p:nvSpPr>
          <p:cNvPr id="25" name="Shape 23"/>
          <p:cNvSpPr/>
          <p:nvPr/>
        </p:nvSpPr>
        <p:spPr>
          <a:xfrm>
            <a:off x="365760" y="3520440"/>
            <a:ext cx="91440" cy="1097280"/>
          </a:xfrm>
          <a:prstGeom prst="rect">
            <a:avLst/>
          </a:prstGeom>
          <a:solidFill>
            <a:srgbClr val="0D9488"/>
          </a:solidFill>
          <a:ln w="12700">
            <a:solidFill>
              <a:srgbClr val="0D9488"/>
            </a:solidFill>
            <a:prstDash val="solid"/>
          </a:ln>
        </p:spPr>
      </p:sp>
      <p:sp>
        <p:nvSpPr>
          <p:cNvPr id="26" name="Text 24"/>
          <p:cNvSpPr/>
          <p:nvPr/>
        </p:nvSpPr>
        <p:spPr>
          <a:xfrm>
            <a:off x="530352" y="3566160"/>
            <a:ext cx="502920" cy="457200"/>
          </a:xfrm>
          <a:prstGeom prst="rect">
            <a:avLst/>
          </a:prstGeom>
          <a:noFill/>
          <a:ln/>
        </p:spPr>
        <p:txBody>
          <a:bodyPr wrap="square" lIns="0" tIns="0" rIns="0" bIns="0" rtlCol="0" anchor="ctr"/>
          <a:lstStyle/>
          <a:p>
            <a:pPr marL="0" indent="0">
              <a:buNone/>
            </a:pPr>
            <a:r>
              <a:rPr lang="en-US" sz="2200" b="1" dirty="0">
                <a:solidFill>
                  <a:srgbClr val="0D9488"/>
                </a:solidFill>
              </a:rPr>
              <a:t>05</a:t>
            </a:r>
            <a:endParaRPr lang="en-US" sz="2200" dirty="0"/>
          </a:p>
        </p:txBody>
      </p:sp>
      <p:sp>
        <p:nvSpPr>
          <p:cNvPr id="27" name="Text 25"/>
          <p:cNvSpPr/>
          <p:nvPr/>
        </p:nvSpPr>
        <p:spPr>
          <a:xfrm>
            <a:off x="1051560" y="3593592"/>
            <a:ext cx="3291840" cy="411480"/>
          </a:xfrm>
          <a:prstGeom prst="rect">
            <a:avLst/>
          </a:prstGeom>
          <a:noFill/>
          <a:ln/>
        </p:spPr>
        <p:txBody>
          <a:bodyPr wrap="square" lIns="0" tIns="0" rIns="0" bIns="0" rtlCol="0" anchor="ctr"/>
          <a:lstStyle/>
          <a:p>
            <a:pPr marL="0" indent="0">
              <a:buNone/>
            </a:pPr>
            <a:r>
              <a:rPr lang="en-US" sz="1600" b="1" dirty="0">
                <a:solidFill>
                  <a:srgbClr val="0D1B2A"/>
                </a:solidFill>
              </a:rPr>
              <a:t>Geographic Analysis</a:t>
            </a:r>
            <a:endParaRPr lang="en-US" sz="1300" dirty="0"/>
          </a:p>
        </p:txBody>
      </p:sp>
      <p:sp>
        <p:nvSpPr>
          <p:cNvPr id="28" name="Text 26"/>
          <p:cNvSpPr/>
          <p:nvPr/>
        </p:nvSpPr>
        <p:spPr>
          <a:xfrm>
            <a:off x="1051560" y="4023360"/>
            <a:ext cx="3291840" cy="502920"/>
          </a:xfrm>
          <a:prstGeom prst="rect">
            <a:avLst/>
          </a:prstGeom>
          <a:noFill/>
          <a:ln/>
        </p:spPr>
        <p:txBody>
          <a:bodyPr wrap="square" lIns="0" tIns="0" rIns="0" bIns="0" rtlCol="0" anchor="ctr"/>
          <a:lstStyle/>
          <a:p>
            <a:pPr marL="0" indent="0">
              <a:buNone/>
            </a:pPr>
            <a:r>
              <a:rPr lang="en-US" sz="1400" dirty="0">
                <a:solidFill>
                  <a:srgbClr val="64748B"/>
                </a:solidFill>
              </a:rPr>
              <a:t>Late delivery rate by Brazilian state with volume context</a:t>
            </a:r>
            <a:endParaRPr lang="en-US" sz="1000" dirty="0"/>
          </a:p>
        </p:txBody>
      </p:sp>
      <p:sp>
        <p:nvSpPr>
          <p:cNvPr id="29" name="Shape 27"/>
          <p:cNvSpPr/>
          <p:nvPr/>
        </p:nvSpPr>
        <p:spPr>
          <a:xfrm>
            <a:off x="4846320" y="3520440"/>
            <a:ext cx="4114800" cy="1097280"/>
          </a:xfrm>
          <a:prstGeom prst="rect">
            <a:avLst/>
          </a:prstGeom>
          <a:solidFill>
            <a:srgbClr val="FFFFFF"/>
          </a:solidFill>
          <a:ln w="12700">
            <a:solidFill>
              <a:srgbClr val="E2E8F0"/>
            </a:solidFill>
            <a:prstDash val="solid"/>
          </a:ln>
        </p:spPr>
      </p:sp>
      <p:sp>
        <p:nvSpPr>
          <p:cNvPr id="30" name="Shape 28"/>
          <p:cNvSpPr/>
          <p:nvPr/>
        </p:nvSpPr>
        <p:spPr>
          <a:xfrm>
            <a:off x="4846320" y="3520440"/>
            <a:ext cx="91440" cy="1097280"/>
          </a:xfrm>
          <a:prstGeom prst="rect">
            <a:avLst/>
          </a:prstGeom>
          <a:solidFill>
            <a:srgbClr val="0D9488"/>
          </a:solidFill>
          <a:ln w="12700">
            <a:solidFill>
              <a:srgbClr val="0D9488"/>
            </a:solidFill>
            <a:prstDash val="solid"/>
          </a:ln>
        </p:spPr>
      </p:sp>
      <p:sp>
        <p:nvSpPr>
          <p:cNvPr id="31" name="Text 29"/>
          <p:cNvSpPr/>
          <p:nvPr/>
        </p:nvSpPr>
        <p:spPr>
          <a:xfrm>
            <a:off x="5010912" y="3566160"/>
            <a:ext cx="502920" cy="457200"/>
          </a:xfrm>
          <a:prstGeom prst="rect">
            <a:avLst/>
          </a:prstGeom>
          <a:noFill/>
          <a:ln/>
        </p:spPr>
        <p:txBody>
          <a:bodyPr wrap="square" lIns="0" tIns="0" rIns="0" bIns="0" rtlCol="0" anchor="ctr"/>
          <a:lstStyle/>
          <a:p>
            <a:pPr marL="0" indent="0">
              <a:buNone/>
            </a:pPr>
            <a:r>
              <a:rPr lang="en-US" sz="2200" b="1" dirty="0">
                <a:solidFill>
                  <a:srgbClr val="0D9488"/>
                </a:solidFill>
              </a:rPr>
              <a:t>06</a:t>
            </a:r>
            <a:endParaRPr lang="en-US" sz="2200" dirty="0"/>
          </a:p>
        </p:txBody>
      </p:sp>
      <p:sp>
        <p:nvSpPr>
          <p:cNvPr id="32" name="Text 30"/>
          <p:cNvSpPr/>
          <p:nvPr/>
        </p:nvSpPr>
        <p:spPr>
          <a:xfrm>
            <a:off x="5532120" y="3593592"/>
            <a:ext cx="3291840" cy="411480"/>
          </a:xfrm>
          <a:prstGeom prst="rect">
            <a:avLst/>
          </a:prstGeom>
          <a:noFill/>
          <a:ln/>
        </p:spPr>
        <p:txBody>
          <a:bodyPr wrap="square" lIns="0" tIns="0" rIns="0" bIns="0" rtlCol="0" anchor="ctr"/>
          <a:lstStyle/>
          <a:p>
            <a:pPr marL="0" indent="0">
              <a:buNone/>
            </a:pPr>
            <a:r>
              <a:rPr lang="en-US" sz="1600" b="1" dirty="0">
                <a:solidFill>
                  <a:srgbClr val="0D1B2A"/>
                </a:solidFill>
              </a:rPr>
              <a:t>Key Findings &amp; Recommendations</a:t>
            </a:r>
            <a:endParaRPr lang="en-US" sz="1300" dirty="0"/>
          </a:p>
        </p:txBody>
      </p:sp>
      <p:sp>
        <p:nvSpPr>
          <p:cNvPr id="33" name="Text 31"/>
          <p:cNvSpPr/>
          <p:nvPr/>
        </p:nvSpPr>
        <p:spPr>
          <a:xfrm>
            <a:off x="5532120" y="4023360"/>
            <a:ext cx="3291840" cy="502920"/>
          </a:xfrm>
          <a:prstGeom prst="rect">
            <a:avLst/>
          </a:prstGeom>
          <a:noFill/>
          <a:ln/>
        </p:spPr>
        <p:txBody>
          <a:bodyPr wrap="square" lIns="0" tIns="0" rIns="0" bIns="0" rtlCol="0" anchor="ctr"/>
          <a:lstStyle/>
          <a:p>
            <a:pPr marL="0" indent="0">
              <a:buNone/>
            </a:pPr>
            <a:r>
              <a:rPr lang="en-US" sz="1400" dirty="0">
                <a:solidFill>
                  <a:srgbClr val="64748B"/>
                </a:solidFill>
              </a:rPr>
              <a:t>Actionable insights for the logistics team</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Text 1"/>
          <p:cNvSpPr/>
          <p:nvPr/>
        </p:nvSpPr>
        <p:spPr>
          <a:xfrm>
            <a:off x="365760" y="0"/>
            <a:ext cx="8229600" cy="6858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01  |  Delivery Status Overview</a:t>
            </a:r>
            <a:endParaRPr lang="en-US" sz="2000" dirty="0"/>
          </a:p>
        </p:txBody>
      </p:sp>
      <p:sp>
        <p:nvSpPr>
          <p:cNvPr id="4" name="Shape 2"/>
          <p:cNvSpPr/>
          <p:nvPr/>
        </p:nvSpPr>
        <p:spPr>
          <a:xfrm>
            <a:off x="320040" y="868680"/>
            <a:ext cx="2606040" cy="1234440"/>
          </a:xfrm>
          <a:prstGeom prst="rect">
            <a:avLst/>
          </a:prstGeom>
          <a:solidFill>
            <a:srgbClr val="FFFFFF"/>
          </a:solidFill>
          <a:ln w="25400">
            <a:solidFill>
              <a:srgbClr val="16A34A"/>
            </a:solidFill>
            <a:prstDash val="solid"/>
          </a:ln>
        </p:spPr>
      </p:sp>
      <p:sp>
        <p:nvSpPr>
          <p:cNvPr id="5" name="Text 3"/>
          <p:cNvSpPr/>
          <p:nvPr/>
        </p:nvSpPr>
        <p:spPr>
          <a:xfrm>
            <a:off x="320040" y="914400"/>
            <a:ext cx="2606040" cy="640080"/>
          </a:xfrm>
          <a:prstGeom prst="rect">
            <a:avLst/>
          </a:prstGeom>
          <a:noFill/>
          <a:ln/>
        </p:spPr>
        <p:txBody>
          <a:bodyPr wrap="square" lIns="0" tIns="0" rIns="0" bIns="0" rtlCol="0" anchor="ctr"/>
          <a:lstStyle/>
          <a:p>
            <a:pPr marL="0" indent="0" algn="ctr">
              <a:buNone/>
            </a:pPr>
            <a:r>
              <a:rPr lang="en-US" sz="2800" b="1" dirty="0">
                <a:solidFill>
                  <a:srgbClr val="16A34A"/>
                </a:solidFill>
              </a:rPr>
              <a:t>88,644</a:t>
            </a:r>
            <a:endParaRPr lang="en-US" sz="2800" dirty="0"/>
          </a:p>
        </p:txBody>
      </p:sp>
      <p:sp>
        <p:nvSpPr>
          <p:cNvPr id="6" name="Text 4"/>
          <p:cNvSpPr/>
          <p:nvPr/>
        </p:nvSpPr>
        <p:spPr>
          <a:xfrm>
            <a:off x="320040" y="1536192"/>
            <a:ext cx="2606040" cy="292608"/>
          </a:xfrm>
          <a:prstGeom prst="rect">
            <a:avLst/>
          </a:prstGeom>
          <a:noFill/>
          <a:ln/>
        </p:spPr>
        <p:txBody>
          <a:bodyPr wrap="square" lIns="0" tIns="0" rIns="0" bIns="0" rtlCol="0" anchor="ctr"/>
          <a:lstStyle/>
          <a:p>
            <a:pPr marL="0" indent="0" algn="ctr">
              <a:buNone/>
            </a:pPr>
            <a:r>
              <a:rPr lang="en-US" sz="1300" b="1" dirty="0">
                <a:solidFill>
                  <a:srgbClr val="0D1B2A"/>
                </a:solidFill>
              </a:rPr>
              <a:t>On Time</a:t>
            </a:r>
            <a:endParaRPr lang="en-US" sz="1300" dirty="0"/>
          </a:p>
        </p:txBody>
      </p:sp>
      <p:sp>
        <p:nvSpPr>
          <p:cNvPr id="7" name="Text 5"/>
          <p:cNvSpPr/>
          <p:nvPr/>
        </p:nvSpPr>
        <p:spPr>
          <a:xfrm>
            <a:off x="320040" y="1810512"/>
            <a:ext cx="2606040" cy="256032"/>
          </a:xfrm>
          <a:prstGeom prst="rect">
            <a:avLst/>
          </a:prstGeom>
          <a:noFill/>
          <a:ln/>
        </p:spPr>
        <p:txBody>
          <a:bodyPr wrap="square" lIns="0" tIns="0" rIns="0" bIns="0" rtlCol="0" anchor="ctr"/>
          <a:lstStyle/>
          <a:p>
            <a:pPr marL="0" indent="0" algn="ctr">
              <a:buNone/>
            </a:pPr>
            <a:r>
              <a:rPr lang="en-US" sz="1100" dirty="0">
                <a:solidFill>
                  <a:srgbClr val="64748B"/>
                </a:solidFill>
              </a:rPr>
              <a:t>91.9% of orders</a:t>
            </a:r>
            <a:endParaRPr lang="en-US" sz="1100" dirty="0"/>
          </a:p>
        </p:txBody>
      </p:sp>
      <p:sp>
        <p:nvSpPr>
          <p:cNvPr id="8" name="Shape 6"/>
          <p:cNvSpPr/>
          <p:nvPr/>
        </p:nvSpPr>
        <p:spPr>
          <a:xfrm>
            <a:off x="3154680" y="868680"/>
            <a:ext cx="2606040" cy="1234440"/>
          </a:xfrm>
          <a:prstGeom prst="rect">
            <a:avLst/>
          </a:prstGeom>
          <a:solidFill>
            <a:srgbClr val="FFFFFF"/>
          </a:solidFill>
          <a:ln w="25400">
            <a:solidFill>
              <a:srgbClr val="EA580C"/>
            </a:solidFill>
            <a:prstDash val="solid"/>
          </a:ln>
        </p:spPr>
      </p:sp>
      <p:sp>
        <p:nvSpPr>
          <p:cNvPr id="9" name="Text 7"/>
          <p:cNvSpPr/>
          <p:nvPr/>
        </p:nvSpPr>
        <p:spPr>
          <a:xfrm>
            <a:off x="3154680" y="914400"/>
            <a:ext cx="2606040" cy="640080"/>
          </a:xfrm>
          <a:prstGeom prst="rect">
            <a:avLst/>
          </a:prstGeom>
          <a:noFill/>
          <a:ln/>
        </p:spPr>
        <p:txBody>
          <a:bodyPr wrap="square" lIns="0" tIns="0" rIns="0" bIns="0" rtlCol="0" anchor="ctr"/>
          <a:lstStyle/>
          <a:p>
            <a:pPr marL="0" indent="0" algn="ctr">
              <a:buNone/>
            </a:pPr>
            <a:r>
              <a:rPr lang="en-US" sz="2800" b="1" dirty="0">
                <a:solidFill>
                  <a:srgbClr val="EA580C"/>
                </a:solidFill>
              </a:rPr>
              <a:t>3,615</a:t>
            </a:r>
            <a:endParaRPr lang="en-US" sz="2800" dirty="0"/>
          </a:p>
        </p:txBody>
      </p:sp>
      <p:sp>
        <p:nvSpPr>
          <p:cNvPr id="10" name="Text 8"/>
          <p:cNvSpPr/>
          <p:nvPr/>
        </p:nvSpPr>
        <p:spPr>
          <a:xfrm>
            <a:off x="3154680" y="1536192"/>
            <a:ext cx="2606040" cy="292608"/>
          </a:xfrm>
          <a:prstGeom prst="rect">
            <a:avLst/>
          </a:prstGeom>
          <a:noFill/>
          <a:ln/>
        </p:spPr>
        <p:txBody>
          <a:bodyPr wrap="square" lIns="0" tIns="0" rIns="0" bIns="0" rtlCol="0" anchor="ctr"/>
          <a:lstStyle/>
          <a:p>
            <a:pPr marL="0" indent="0" algn="ctr">
              <a:buNone/>
            </a:pPr>
            <a:r>
              <a:rPr lang="en-US" sz="1300" b="1" dirty="0">
                <a:solidFill>
                  <a:srgbClr val="0D1B2A"/>
                </a:solidFill>
              </a:rPr>
              <a:t>Late</a:t>
            </a:r>
            <a:endParaRPr lang="en-US" sz="1300" dirty="0"/>
          </a:p>
        </p:txBody>
      </p:sp>
      <p:sp>
        <p:nvSpPr>
          <p:cNvPr id="11" name="Text 9"/>
          <p:cNvSpPr/>
          <p:nvPr/>
        </p:nvSpPr>
        <p:spPr>
          <a:xfrm>
            <a:off x="3154680" y="1810512"/>
            <a:ext cx="2606040" cy="256032"/>
          </a:xfrm>
          <a:prstGeom prst="rect">
            <a:avLst/>
          </a:prstGeom>
          <a:noFill/>
          <a:ln/>
        </p:spPr>
        <p:txBody>
          <a:bodyPr wrap="square" lIns="0" tIns="0" rIns="0" bIns="0" rtlCol="0" anchor="ctr"/>
          <a:lstStyle/>
          <a:p>
            <a:pPr marL="0" indent="0" algn="ctr">
              <a:buNone/>
            </a:pPr>
            <a:r>
              <a:rPr lang="en-US" sz="1100" dirty="0">
                <a:solidFill>
                  <a:srgbClr val="64748B"/>
                </a:solidFill>
              </a:rPr>
              <a:t>3.7% of orders</a:t>
            </a:r>
            <a:endParaRPr lang="en-US" sz="1000" dirty="0"/>
          </a:p>
        </p:txBody>
      </p:sp>
      <p:sp>
        <p:nvSpPr>
          <p:cNvPr id="12" name="Shape 10"/>
          <p:cNvSpPr/>
          <p:nvPr/>
        </p:nvSpPr>
        <p:spPr>
          <a:xfrm>
            <a:off x="5989320" y="868680"/>
            <a:ext cx="2606040" cy="1234440"/>
          </a:xfrm>
          <a:prstGeom prst="rect">
            <a:avLst/>
          </a:prstGeom>
          <a:solidFill>
            <a:srgbClr val="FFFFFF"/>
          </a:solidFill>
          <a:ln w="25400">
            <a:solidFill>
              <a:srgbClr val="DC2626"/>
            </a:solidFill>
            <a:prstDash val="solid"/>
          </a:ln>
        </p:spPr>
      </p:sp>
      <p:sp>
        <p:nvSpPr>
          <p:cNvPr id="13" name="Text 11"/>
          <p:cNvSpPr/>
          <p:nvPr/>
        </p:nvSpPr>
        <p:spPr>
          <a:xfrm>
            <a:off x="5989320" y="914400"/>
            <a:ext cx="2606040" cy="640080"/>
          </a:xfrm>
          <a:prstGeom prst="rect">
            <a:avLst/>
          </a:prstGeom>
          <a:noFill/>
          <a:ln/>
        </p:spPr>
        <p:txBody>
          <a:bodyPr wrap="square" lIns="0" tIns="0" rIns="0" bIns="0" rtlCol="0" anchor="ctr"/>
          <a:lstStyle/>
          <a:p>
            <a:pPr marL="0" indent="0" algn="ctr">
              <a:buNone/>
            </a:pPr>
            <a:r>
              <a:rPr lang="en-US" sz="2800" b="1" dirty="0">
                <a:solidFill>
                  <a:srgbClr val="DC2626"/>
                </a:solidFill>
              </a:rPr>
              <a:t>4,219</a:t>
            </a:r>
            <a:endParaRPr lang="en-US" sz="2800" dirty="0"/>
          </a:p>
        </p:txBody>
      </p:sp>
      <p:sp>
        <p:nvSpPr>
          <p:cNvPr id="14" name="Text 12"/>
          <p:cNvSpPr/>
          <p:nvPr/>
        </p:nvSpPr>
        <p:spPr>
          <a:xfrm>
            <a:off x="5989320" y="1536192"/>
            <a:ext cx="2606040" cy="292608"/>
          </a:xfrm>
          <a:prstGeom prst="rect">
            <a:avLst/>
          </a:prstGeom>
          <a:noFill/>
          <a:ln/>
        </p:spPr>
        <p:txBody>
          <a:bodyPr wrap="square" lIns="0" tIns="0" rIns="0" bIns="0" rtlCol="0" anchor="ctr"/>
          <a:lstStyle/>
          <a:p>
            <a:pPr marL="0" indent="0" algn="ctr">
              <a:buNone/>
            </a:pPr>
            <a:r>
              <a:rPr lang="en-US" sz="1300" b="1" dirty="0">
                <a:solidFill>
                  <a:srgbClr val="0D1B2A"/>
                </a:solidFill>
              </a:rPr>
              <a:t>Super Late</a:t>
            </a:r>
            <a:endParaRPr lang="en-US" sz="1300" dirty="0"/>
          </a:p>
        </p:txBody>
      </p:sp>
      <p:sp>
        <p:nvSpPr>
          <p:cNvPr id="15" name="Text 13"/>
          <p:cNvSpPr/>
          <p:nvPr/>
        </p:nvSpPr>
        <p:spPr>
          <a:xfrm>
            <a:off x="5989320" y="1810512"/>
            <a:ext cx="2606040" cy="256032"/>
          </a:xfrm>
          <a:prstGeom prst="rect">
            <a:avLst/>
          </a:prstGeom>
          <a:noFill/>
          <a:ln/>
        </p:spPr>
        <p:txBody>
          <a:bodyPr wrap="square" lIns="0" tIns="0" rIns="0" bIns="0" rtlCol="0" anchor="ctr"/>
          <a:lstStyle/>
          <a:p>
            <a:pPr marL="0" indent="0" algn="ctr">
              <a:buNone/>
            </a:pPr>
            <a:r>
              <a:rPr lang="en-US" sz="1100" dirty="0">
                <a:solidFill>
                  <a:srgbClr val="64748B"/>
                </a:solidFill>
              </a:rPr>
              <a:t>4.4% of orders</a:t>
            </a:r>
            <a:endParaRPr lang="en-US" sz="1000" dirty="0"/>
          </a:p>
        </p:txBody>
      </p:sp>
      <p:pic>
        <p:nvPicPr>
          <p:cNvPr id="16" name="Image 0" descr="preencoded.png"/>
          <p:cNvPicPr>
            <a:picLocks noChangeAspect="1"/>
          </p:cNvPicPr>
          <p:nvPr/>
        </p:nvPicPr>
        <p:blipFill>
          <a:blip r:embed="rId3"/>
          <a:stretch>
            <a:fillRect/>
          </a:stretch>
        </p:blipFill>
        <p:spPr>
          <a:xfrm>
            <a:off x="274320" y="2240280"/>
            <a:ext cx="8595360" cy="2743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Text 1"/>
          <p:cNvSpPr/>
          <p:nvPr/>
        </p:nvSpPr>
        <p:spPr>
          <a:xfrm>
            <a:off x="365760" y="0"/>
            <a:ext cx="8229600" cy="685800"/>
          </a:xfrm>
          <a:prstGeom prst="rect">
            <a:avLst/>
          </a:prstGeom>
          <a:noFill/>
          <a:ln/>
        </p:spPr>
        <p:txBody>
          <a:bodyPr wrap="square" lIns="0" tIns="0" rIns="0" bIns="0" rtlCol="0" anchor="ctr"/>
          <a:lstStyle/>
          <a:p>
            <a:pPr marL="0" indent="0">
              <a:buNone/>
            </a:pPr>
            <a:r>
              <a:rPr lang="en-US" sz="2000" b="1" dirty="0">
                <a:solidFill>
                  <a:srgbClr val="FFFFFF"/>
                </a:solidFill>
              </a:rPr>
              <a:t>02  |  Customer Sentiment Analysis</a:t>
            </a:r>
            <a:endParaRPr lang="en-US" sz="2000" dirty="0"/>
          </a:p>
        </p:txBody>
      </p:sp>
      <p:sp>
        <p:nvSpPr>
          <p:cNvPr id="4" name="Shape 2"/>
          <p:cNvSpPr/>
          <p:nvPr/>
        </p:nvSpPr>
        <p:spPr>
          <a:xfrm>
            <a:off x="320040" y="822960"/>
            <a:ext cx="8503920" cy="685800"/>
          </a:xfrm>
          <a:prstGeom prst="rect">
            <a:avLst/>
          </a:prstGeom>
          <a:solidFill>
            <a:srgbClr val="EFF6FF"/>
          </a:solidFill>
          <a:ln w="12700">
            <a:solidFill>
              <a:srgbClr val="BFDBFE"/>
            </a:solidFill>
            <a:prstDash val="solid"/>
          </a:ln>
        </p:spPr>
      </p:sp>
      <p:sp>
        <p:nvSpPr>
          <p:cNvPr id="5" name="Text 3"/>
          <p:cNvSpPr/>
          <p:nvPr/>
        </p:nvSpPr>
        <p:spPr>
          <a:xfrm>
            <a:off x="502920" y="822960"/>
            <a:ext cx="8321040" cy="685800"/>
          </a:xfrm>
          <a:prstGeom prst="rect">
            <a:avLst/>
          </a:prstGeom>
          <a:noFill/>
          <a:ln/>
        </p:spPr>
        <p:txBody>
          <a:bodyPr wrap="square" lIns="0" tIns="0" rIns="0" bIns="0" rtlCol="0" anchor="ctr"/>
          <a:lstStyle/>
          <a:p>
            <a:pPr marL="0" indent="0">
              <a:buNone/>
            </a:pPr>
            <a:r>
              <a:rPr lang="en-US" sz="1100" dirty="0">
                <a:solidFill>
                  <a:srgbClr val="1E3A5F"/>
                </a:solidFill>
              </a:rPr>
              <a:t> </a:t>
            </a:r>
            <a:r>
              <a:rPr lang="en-US" sz="2000" dirty="0">
                <a:solidFill>
                  <a:srgbClr val="1E3A5F"/>
                </a:solidFill>
              </a:rPr>
              <a:t>Key Insight: Delivery delays have a strong negative impact on customer satisfaction; super-late orders score 58% lower than on-time deliveries.</a:t>
            </a:r>
            <a:endParaRPr lang="en-US" sz="1100" dirty="0"/>
          </a:p>
        </p:txBody>
      </p:sp>
      <p:sp>
        <p:nvSpPr>
          <p:cNvPr id="6" name="Shape 4"/>
          <p:cNvSpPr/>
          <p:nvPr/>
        </p:nvSpPr>
        <p:spPr>
          <a:xfrm>
            <a:off x="320040" y="1645920"/>
            <a:ext cx="2606040" cy="960120"/>
          </a:xfrm>
          <a:prstGeom prst="rect">
            <a:avLst/>
          </a:prstGeom>
          <a:solidFill>
            <a:srgbClr val="FFFFFF"/>
          </a:solidFill>
          <a:ln w="25400">
            <a:solidFill>
              <a:srgbClr val="16A34A"/>
            </a:solidFill>
            <a:prstDash val="solid"/>
          </a:ln>
        </p:spPr>
      </p:sp>
      <p:sp>
        <p:nvSpPr>
          <p:cNvPr id="7" name="Text 5"/>
          <p:cNvSpPr/>
          <p:nvPr/>
        </p:nvSpPr>
        <p:spPr>
          <a:xfrm>
            <a:off x="320040" y="1673352"/>
            <a:ext cx="2606040" cy="502920"/>
          </a:xfrm>
          <a:prstGeom prst="rect">
            <a:avLst/>
          </a:prstGeom>
          <a:noFill/>
          <a:ln/>
        </p:spPr>
        <p:txBody>
          <a:bodyPr wrap="square" lIns="0" tIns="0" rIns="0" bIns="0" rtlCol="0" anchor="ctr"/>
          <a:lstStyle/>
          <a:p>
            <a:pPr marL="0" indent="0" algn="ctr">
              <a:buNone/>
            </a:pPr>
            <a:r>
              <a:rPr lang="en-US" sz="2200" b="1" dirty="0">
                <a:solidFill>
                  <a:srgbClr val="16A34A"/>
                </a:solidFill>
              </a:rPr>
              <a:t>4.29 / 5</a:t>
            </a:r>
            <a:endParaRPr lang="en-US" sz="2200" dirty="0"/>
          </a:p>
        </p:txBody>
      </p:sp>
      <p:sp>
        <p:nvSpPr>
          <p:cNvPr id="8" name="Text 6"/>
          <p:cNvSpPr/>
          <p:nvPr/>
        </p:nvSpPr>
        <p:spPr>
          <a:xfrm>
            <a:off x="320040" y="2148840"/>
            <a:ext cx="2606040" cy="411480"/>
          </a:xfrm>
          <a:prstGeom prst="rect">
            <a:avLst/>
          </a:prstGeom>
          <a:noFill/>
          <a:ln/>
        </p:spPr>
        <p:txBody>
          <a:bodyPr wrap="square" lIns="0" tIns="0" rIns="0" bIns="0" rtlCol="0" anchor="ctr"/>
          <a:lstStyle/>
          <a:p>
            <a:pPr marL="0" indent="0" algn="ctr">
              <a:buNone/>
            </a:pPr>
            <a:r>
              <a:rPr lang="en-US" sz="1600" dirty="0">
                <a:solidFill>
                  <a:srgbClr val="64748B"/>
                </a:solidFill>
              </a:rPr>
              <a:t>On Time</a:t>
            </a:r>
            <a:endParaRPr lang="en-US" sz="1100" dirty="0"/>
          </a:p>
        </p:txBody>
      </p:sp>
      <p:sp>
        <p:nvSpPr>
          <p:cNvPr id="9" name="Shape 7"/>
          <p:cNvSpPr/>
          <p:nvPr/>
        </p:nvSpPr>
        <p:spPr>
          <a:xfrm>
            <a:off x="3154680" y="1645920"/>
            <a:ext cx="2606040" cy="960120"/>
          </a:xfrm>
          <a:prstGeom prst="rect">
            <a:avLst/>
          </a:prstGeom>
          <a:solidFill>
            <a:srgbClr val="FFFFFF"/>
          </a:solidFill>
          <a:ln w="25400">
            <a:solidFill>
              <a:srgbClr val="EA580C"/>
            </a:solidFill>
            <a:prstDash val="solid"/>
          </a:ln>
        </p:spPr>
      </p:sp>
      <p:sp>
        <p:nvSpPr>
          <p:cNvPr id="10" name="Text 8"/>
          <p:cNvSpPr/>
          <p:nvPr/>
        </p:nvSpPr>
        <p:spPr>
          <a:xfrm>
            <a:off x="3154680" y="1673352"/>
            <a:ext cx="2606040" cy="502920"/>
          </a:xfrm>
          <a:prstGeom prst="rect">
            <a:avLst/>
          </a:prstGeom>
          <a:noFill/>
          <a:ln/>
        </p:spPr>
        <p:txBody>
          <a:bodyPr wrap="square" lIns="0" tIns="0" rIns="0" bIns="0" rtlCol="0" anchor="ctr"/>
          <a:lstStyle/>
          <a:p>
            <a:pPr marL="0" indent="0" algn="ctr">
              <a:buNone/>
            </a:pPr>
            <a:r>
              <a:rPr lang="en-US" sz="2200" b="1" dirty="0">
                <a:solidFill>
                  <a:srgbClr val="EA580C"/>
                </a:solidFill>
              </a:rPr>
              <a:t>3.46 / 5</a:t>
            </a:r>
            <a:endParaRPr lang="en-US" sz="2200" dirty="0"/>
          </a:p>
        </p:txBody>
      </p:sp>
      <p:sp>
        <p:nvSpPr>
          <p:cNvPr id="11" name="Text 9"/>
          <p:cNvSpPr/>
          <p:nvPr/>
        </p:nvSpPr>
        <p:spPr>
          <a:xfrm>
            <a:off x="3154680" y="2148840"/>
            <a:ext cx="2606040" cy="411480"/>
          </a:xfrm>
          <a:prstGeom prst="rect">
            <a:avLst/>
          </a:prstGeom>
          <a:noFill/>
          <a:ln/>
        </p:spPr>
        <p:txBody>
          <a:bodyPr wrap="square" lIns="0" tIns="0" rIns="0" bIns="0" rtlCol="0" anchor="ctr"/>
          <a:lstStyle/>
          <a:p>
            <a:pPr marL="0" indent="0" algn="ctr">
              <a:buNone/>
            </a:pPr>
            <a:r>
              <a:rPr lang="en-US" sz="1600" dirty="0">
                <a:solidFill>
                  <a:srgbClr val="64748B"/>
                </a:solidFill>
              </a:rPr>
              <a:t>Late</a:t>
            </a:r>
            <a:endParaRPr lang="en-US" sz="1100" dirty="0"/>
          </a:p>
        </p:txBody>
      </p:sp>
      <p:sp>
        <p:nvSpPr>
          <p:cNvPr id="12" name="Shape 10"/>
          <p:cNvSpPr/>
          <p:nvPr/>
        </p:nvSpPr>
        <p:spPr>
          <a:xfrm>
            <a:off x="5989320" y="1645920"/>
            <a:ext cx="2606040" cy="960120"/>
          </a:xfrm>
          <a:prstGeom prst="rect">
            <a:avLst/>
          </a:prstGeom>
          <a:solidFill>
            <a:srgbClr val="FFFFFF"/>
          </a:solidFill>
          <a:ln w="25400">
            <a:solidFill>
              <a:srgbClr val="DC2626"/>
            </a:solidFill>
            <a:prstDash val="solid"/>
          </a:ln>
        </p:spPr>
      </p:sp>
      <p:sp>
        <p:nvSpPr>
          <p:cNvPr id="13" name="Text 11"/>
          <p:cNvSpPr/>
          <p:nvPr/>
        </p:nvSpPr>
        <p:spPr>
          <a:xfrm>
            <a:off x="5989320" y="1673352"/>
            <a:ext cx="2606040" cy="502920"/>
          </a:xfrm>
          <a:prstGeom prst="rect">
            <a:avLst/>
          </a:prstGeom>
          <a:noFill/>
          <a:ln/>
        </p:spPr>
        <p:txBody>
          <a:bodyPr wrap="square" lIns="0" tIns="0" rIns="0" bIns="0" rtlCol="0" anchor="ctr"/>
          <a:lstStyle/>
          <a:p>
            <a:pPr marL="0" indent="0" algn="ctr">
              <a:buNone/>
            </a:pPr>
            <a:r>
              <a:rPr lang="en-US" sz="2200" b="1" dirty="0">
                <a:solidFill>
                  <a:srgbClr val="DC2626"/>
                </a:solidFill>
              </a:rPr>
              <a:t>1.79 / 5</a:t>
            </a:r>
            <a:endParaRPr lang="en-US" sz="2200" dirty="0"/>
          </a:p>
        </p:txBody>
      </p:sp>
      <p:sp>
        <p:nvSpPr>
          <p:cNvPr id="14" name="Text 12"/>
          <p:cNvSpPr/>
          <p:nvPr/>
        </p:nvSpPr>
        <p:spPr>
          <a:xfrm>
            <a:off x="5989320" y="2148840"/>
            <a:ext cx="2606040" cy="411480"/>
          </a:xfrm>
          <a:prstGeom prst="rect">
            <a:avLst/>
          </a:prstGeom>
          <a:noFill/>
          <a:ln/>
        </p:spPr>
        <p:txBody>
          <a:bodyPr wrap="square" lIns="0" tIns="0" rIns="0" bIns="0" rtlCol="0" anchor="ctr"/>
          <a:lstStyle/>
          <a:p>
            <a:pPr marL="0" indent="0" algn="ctr">
              <a:buNone/>
            </a:pPr>
            <a:r>
              <a:rPr lang="en-US" sz="1600" dirty="0">
                <a:solidFill>
                  <a:srgbClr val="64748B"/>
                </a:solidFill>
              </a:rPr>
              <a:t>Super Late</a:t>
            </a:r>
            <a:endParaRPr lang="en-US" sz="1100" dirty="0"/>
          </a:p>
        </p:txBody>
      </p:sp>
      <p:pic>
        <p:nvPicPr>
          <p:cNvPr id="15" name="Image 0" descr="preencoded.png"/>
          <p:cNvPicPr>
            <a:picLocks noChangeAspect="1"/>
          </p:cNvPicPr>
          <p:nvPr/>
        </p:nvPicPr>
        <p:blipFill>
          <a:blip r:embed="rId3"/>
          <a:stretch>
            <a:fillRect/>
          </a:stretch>
        </p:blipFill>
        <p:spPr>
          <a:xfrm>
            <a:off x="182880" y="2697480"/>
            <a:ext cx="8778240" cy="23317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Text 1"/>
          <p:cNvSpPr/>
          <p:nvPr/>
        </p:nvSpPr>
        <p:spPr>
          <a:xfrm>
            <a:off x="365760" y="0"/>
            <a:ext cx="8229600" cy="685800"/>
          </a:xfrm>
          <a:prstGeom prst="rect">
            <a:avLst/>
          </a:prstGeom>
          <a:noFill/>
          <a:ln/>
        </p:spPr>
        <p:txBody>
          <a:bodyPr wrap="square" lIns="0" tIns="0" rIns="0" bIns="0" rtlCol="0" anchor="ctr"/>
          <a:lstStyle/>
          <a:p>
            <a:pPr marL="0" indent="0">
              <a:buNone/>
            </a:pPr>
            <a:r>
              <a:rPr lang="en-US" sz="2000" b="1" dirty="0">
                <a:solidFill>
                  <a:srgbClr val="FFFFFF"/>
                </a:solidFill>
              </a:rPr>
              <a:t>03  |  Review Score Distribution by Delivery Status</a:t>
            </a:r>
            <a:endParaRPr lang="en-US" sz="2000" dirty="0"/>
          </a:p>
        </p:txBody>
      </p:sp>
      <p:sp>
        <p:nvSpPr>
          <p:cNvPr id="4" name="Shape 2"/>
          <p:cNvSpPr/>
          <p:nvPr/>
        </p:nvSpPr>
        <p:spPr>
          <a:xfrm>
            <a:off x="320040" y="804672"/>
            <a:ext cx="2606040" cy="777240"/>
          </a:xfrm>
          <a:prstGeom prst="rect">
            <a:avLst/>
          </a:prstGeom>
          <a:solidFill>
            <a:srgbClr val="FFFFFF"/>
          </a:solidFill>
          <a:ln w="19050">
            <a:solidFill>
              <a:srgbClr val="16A34A"/>
            </a:solidFill>
            <a:prstDash val="solid"/>
          </a:ln>
        </p:spPr>
      </p:sp>
      <p:sp>
        <p:nvSpPr>
          <p:cNvPr id="5" name="Shape 3"/>
          <p:cNvSpPr/>
          <p:nvPr/>
        </p:nvSpPr>
        <p:spPr>
          <a:xfrm>
            <a:off x="320040" y="804672"/>
            <a:ext cx="82296" cy="777240"/>
          </a:xfrm>
          <a:prstGeom prst="rect">
            <a:avLst/>
          </a:prstGeom>
          <a:solidFill>
            <a:srgbClr val="16A34A"/>
          </a:solidFill>
          <a:ln w="12700">
            <a:solidFill>
              <a:srgbClr val="16A34A"/>
            </a:solidFill>
            <a:prstDash val="solid"/>
          </a:ln>
        </p:spPr>
      </p:sp>
      <p:sp>
        <p:nvSpPr>
          <p:cNvPr id="6" name="Text 4"/>
          <p:cNvSpPr/>
          <p:nvPr/>
        </p:nvSpPr>
        <p:spPr>
          <a:xfrm>
            <a:off x="484632" y="822960"/>
            <a:ext cx="2377440" cy="320040"/>
          </a:xfrm>
          <a:prstGeom prst="rect">
            <a:avLst/>
          </a:prstGeom>
          <a:noFill/>
          <a:ln/>
        </p:spPr>
        <p:txBody>
          <a:bodyPr wrap="square" lIns="0" tIns="0" rIns="0" bIns="0" rtlCol="0" anchor="ctr"/>
          <a:lstStyle/>
          <a:p>
            <a:pPr marL="0" indent="0">
              <a:buNone/>
            </a:pPr>
            <a:endParaRPr lang="en-US" sz="1100" dirty="0"/>
          </a:p>
        </p:txBody>
      </p:sp>
      <p:sp>
        <p:nvSpPr>
          <p:cNvPr id="7" name="Text 5"/>
          <p:cNvSpPr/>
          <p:nvPr/>
        </p:nvSpPr>
        <p:spPr>
          <a:xfrm>
            <a:off x="484632" y="822960"/>
            <a:ext cx="2377440" cy="758952"/>
          </a:xfrm>
          <a:prstGeom prst="rect">
            <a:avLst/>
          </a:prstGeom>
          <a:noFill/>
          <a:ln/>
        </p:spPr>
        <p:txBody>
          <a:bodyPr wrap="square" lIns="0" tIns="0" rIns="0" bIns="0" rtlCol="0" anchor="ctr"/>
          <a:lstStyle/>
          <a:p>
            <a:pPr marL="0" indent="0">
              <a:buNone/>
            </a:pPr>
            <a:r>
              <a:rPr lang="en-US" sz="1400" dirty="0">
                <a:solidFill>
                  <a:srgbClr val="64748B"/>
                </a:solidFill>
              </a:rPr>
              <a:t>Score 5 dominates; customers highly satisfied</a:t>
            </a:r>
            <a:endParaRPr lang="en-US" sz="1400" dirty="0"/>
          </a:p>
        </p:txBody>
      </p:sp>
      <p:sp>
        <p:nvSpPr>
          <p:cNvPr id="8" name="Shape 6"/>
          <p:cNvSpPr/>
          <p:nvPr/>
        </p:nvSpPr>
        <p:spPr>
          <a:xfrm>
            <a:off x="3154680" y="804672"/>
            <a:ext cx="2606040" cy="777240"/>
          </a:xfrm>
          <a:prstGeom prst="rect">
            <a:avLst/>
          </a:prstGeom>
          <a:solidFill>
            <a:srgbClr val="FFFFFF"/>
          </a:solidFill>
          <a:ln w="19050">
            <a:solidFill>
              <a:srgbClr val="EA580C"/>
            </a:solidFill>
            <a:prstDash val="solid"/>
          </a:ln>
        </p:spPr>
        <p:txBody>
          <a:bodyPr/>
          <a:lstStyle/>
          <a:p>
            <a:endParaRPr lang="fr-FR"/>
          </a:p>
        </p:txBody>
      </p:sp>
      <p:sp>
        <p:nvSpPr>
          <p:cNvPr id="9" name="Shape 7"/>
          <p:cNvSpPr/>
          <p:nvPr/>
        </p:nvSpPr>
        <p:spPr>
          <a:xfrm>
            <a:off x="3154680" y="804672"/>
            <a:ext cx="82296" cy="777240"/>
          </a:xfrm>
          <a:prstGeom prst="rect">
            <a:avLst/>
          </a:prstGeom>
          <a:solidFill>
            <a:srgbClr val="EA580C"/>
          </a:solidFill>
          <a:ln w="12700">
            <a:solidFill>
              <a:srgbClr val="EA580C"/>
            </a:solidFill>
            <a:prstDash val="solid"/>
          </a:ln>
        </p:spPr>
      </p:sp>
      <p:sp>
        <p:nvSpPr>
          <p:cNvPr id="10" name="Text 8"/>
          <p:cNvSpPr/>
          <p:nvPr/>
        </p:nvSpPr>
        <p:spPr>
          <a:xfrm>
            <a:off x="3319272" y="822960"/>
            <a:ext cx="2377440" cy="320040"/>
          </a:xfrm>
          <a:prstGeom prst="rect">
            <a:avLst/>
          </a:prstGeom>
          <a:noFill/>
          <a:ln/>
        </p:spPr>
        <p:txBody>
          <a:bodyPr wrap="square" lIns="0" tIns="0" rIns="0" bIns="0" rtlCol="0" anchor="ctr"/>
          <a:lstStyle/>
          <a:p>
            <a:pPr marL="0" indent="0">
              <a:buNone/>
            </a:pPr>
            <a:endParaRPr lang="en-US" sz="1100" dirty="0"/>
          </a:p>
        </p:txBody>
      </p:sp>
      <p:sp>
        <p:nvSpPr>
          <p:cNvPr id="11" name="Text 9"/>
          <p:cNvSpPr/>
          <p:nvPr/>
        </p:nvSpPr>
        <p:spPr>
          <a:xfrm>
            <a:off x="3319272" y="822960"/>
            <a:ext cx="2377440" cy="758952"/>
          </a:xfrm>
          <a:prstGeom prst="rect">
            <a:avLst/>
          </a:prstGeom>
          <a:noFill/>
          <a:ln/>
        </p:spPr>
        <p:txBody>
          <a:bodyPr wrap="square" lIns="0" tIns="0" rIns="0" bIns="0" rtlCol="0" anchor="ctr"/>
          <a:lstStyle/>
          <a:p>
            <a:pPr marL="0" indent="0">
              <a:buNone/>
            </a:pPr>
            <a:r>
              <a:rPr lang="en-US" sz="1400" dirty="0">
                <a:solidFill>
                  <a:srgbClr val="64748B"/>
                </a:solidFill>
              </a:rPr>
              <a:t>Bimodal: score 1 &amp; 5 spikes; polarized reactions</a:t>
            </a:r>
            <a:endParaRPr lang="en-US" sz="1400" dirty="0"/>
          </a:p>
        </p:txBody>
      </p:sp>
      <p:sp>
        <p:nvSpPr>
          <p:cNvPr id="12" name="Shape 10"/>
          <p:cNvSpPr/>
          <p:nvPr/>
        </p:nvSpPr>
        <p:spPr>
          <a:xfrm>
            <a:off x="5989320" y="804672"/>
            <a:ext cx="2606040" cy="777240"/>
          </a:xfrm>
          <a:prstGeom prst="rect">
            <a:avLst/>
          </a:prstGeom>
          <a:solidFill>
            <a:srgbClr val="FFFFFF"/>
          </a:solidFill>
          <a:ln w="19050">
            <a:solidFill>
              <a:srgbClr val="DC2626"/>
            </a:solidFill>
            <a:prstDash val="solid"/>
          </a:ln>
        </p:spPr>
      </p:sp>
      <p:sp>
        <p:nvSpPr>
          <p:cNvPr id="13" name="Shape 11"/>
          <p:cNvSpPr/>
          <p:nvPr/>
        </p:nvSpPr>
        <p:spPr>
          <a:xfrm>
            <a:off x="5989320" y="804672"/>
            <a:ext cx="82296" cy="777240"/>
          </a:xfrm>
          <a:prstGeom prst="rect">
            <a:avLst/>
          </a:prstGeom>
          <a:solidFill>
            <a:srgbClr val="DC2626"/>
          </a:solidFill>
          <a:ln w="12700">
            <a:solidFill>
              <a:srgbClr val="DC2626"/>
            </a:solidFill>
            <a:prstDash val="solid"/>
          </a:ln>
        </p:spPr>
      </p:sp>
      <p:sp>
        <p:nvSpPr>
          <p:cNvPr id="14" name="Text 12"/>
          <p:cNvSpPr/>
          <p:nvPr/>
        </p:nvSpPr>
        <p:spPr>
          <a:xfrm>
            <a:off x="6153912" y="822960"/>
            <a:ext cx="2377440" cy="320040"/>
          </a:xfrm>
          <a:prstGeom prst="rect">
            <a:avLst/>
          </a:prstGeom>
          <a:noFill/>
          <a:ln/>
        </p:spPr>
        <p:txBody>
          <a:bodyPr wrap="square" lIns="0" tIns="0" rIns="0" bIns="0" rtlCol="0" anchor="ctr"/>
          <a:lstStyle/>
          <a:p>
            <a:pPr marL="0" indent="0">
              <a:buNone/>
            </a:pPr>
            <a:endParaRPr lang="en-US" sz="1100" dirty="0"/>
          </a:p>
        </p:txBody>
      </p:sp>
      <p:sp>
        <p:nvSpPr>
          <p:cNvPr id="15" name="Text 13"/>
          <p:cNvSpPr/>
          <p:nvPr/>
        </p:nvSpPr>
        <p:spPr>
          <a:xfrm>
            <a:off x="6153912" y="822960"/>
            <a:ext cx="2377440" cy="758952"/>
          </a:xfrm>
          <a:prstGeom prst="rect">
            <a:avLst/>
          </a:prstGeom>
          <a:noFill/>
          <a:ln/>
        </p:spPr>
        <p:txBody>
          <a:bodyPr wrap="square" lIns="0" tIns="0" rIns="0" bIns="0" rtlCol="0" anchor="ctr"/>
          <a:lstStyle/>
          <a:p>
            <a:pPr marL="0" indent="0">
              <a:buNone/>
            </a:pPr>
            <a:r>
              <a:rPr lang="en-US" sz="1400" dirty="0">
                <a:solidFill>
                  <a:srgbClr val="64748B"/>
                </a:solidFill>
              </a:rPr>
              <a:t>Score 1 overwhelmingly dominant; severe dissatisfaction</a:t>
            </a:r>
            <a:endParaRPr lang="en-US" sz="1400" dirty="0"/>
          </a:p>
        </p:txBody>
      </p:sp>
      <p:pic>
        <p:nvPicPr>
          <p:cNvPr id="16" name="Image 0" descr="preencoded.png"/>
          <p:cNvPicPr>
            <a:picLocks noChangeAspect="1"/>
          </p:cNvPicPr>
          <p:nvPr/>
        </p:nvPicPr>
        <p:blipFill>
          <a:blip r:embed="rId3"/>
          <a:stretch>
            <a:fillRect/>
          </a:stretch>
        </p:blipFill>
        <p:spPr>
          <a:xfrm>
            <a:off x="182880" y="1691640"/>
            <a:ext cx="8778240" cy="32918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Text 1"/>
          <p:cNvSpPr/>
          <p:nvPr/>
        </p:nvSpPr>
        <p:spPr>
          <a:xfrm>
            <a:off x="365760" y="0"/>
            <a:ext cx="8229600" cy="685800"/>
          </a:xfrm>
          <a:prstGeom prst="rect">
            <a:avLst/>
          </a:prstGeom>
          <a:noFill/>
          <a:ln/>
        </p:spPr>
        <p:txBody>
          <a:bodyPr wrap="square" lIns="0" tIns="0" rIns="0" bIns="0" rtlCol="0" anchor="ctr"/>
          <a:lstStyle/>
          <a:p>
            <a:pPr marL="0" indent="0">
              <a:buNone/>
            </a:pPr>
            <a:r>
              <a:rPr lang="en-US" sz="2000" b="1" dirty="0">
                <a:solidFill>
                  <a:srgbClr val="FFFFFF"/>
                </a:solidFill>
              </a:rPr>
              <a:t>04  |  Seasonality &amp; Peak Late Delivery Periods</a:t>
            </a:r>
            <a:endParaRPr lang="en-US" sz="2000" dirty="0"/>
          </a:p>
        </p:txBody>
      </p:sp>
      <p:sp>
        <p:nvSpPr>
          <p:cNvPr id="4" name="Shape 2"/>
          <p:cNvSpPr/>
          <p:nvPr/>
        </p:nvSpPr>
        <p:spPr>
          <a:xfrm>
            <a:off x="320040" y="804672"/>
            <a:ext cx="1965960" cy="777240"/>
          </a:xfrm>
          <a:prstGeom prst="rect">
            <a:avLst/>
          </a:prstGeom>
          <a:solidFill>
            <a:srgbClr val="FFFFFF"/>
          </a:solidFill>
          <a:ln w="25400">
            <a:solidFill>
              <a:srgbClr val="EA580C"/>
            </a:solidFill>
            <a:prstDash val="solid"/>
          </a:ln>
        </p:spPr>
      </p:sp>
      <p:sp>
        <p:nvSpPr>
          <p:cNvPr id="5" name="Text 3"/>
          <p:cNvSpPr/>
          <p:nvPr/>
        </p:nvSpPr>
        <p:spPr>
          <a:xfrm>
            <a:off x="320040" y="822960"/>
            <a:ext cx="1965960" cy="411480"/>
          </a:xfrm>
          <a:prstGeom prst="rect">
            <a:avLst/>
          </a:prstGeom>
          <a:noFill/>
          <a:ln/>
        </p:spPr>
        <p:txBody>
          <a:bodyPr wrap="square" lIns="0" tIns="0" rIns="0" bIns="0" rtlCol="0" anchor="ctr"/>
          <a:lstStyle/>
          <a:p>
            <a:pPr marL="0" indent="0" algn="ctr">
              <a:buNone/>
            </a:pPr>
            <a:r>
              <a:rPr lang="en-US" sz="2000" b="1" dirty="0">
                <a:solidFill>
                  <a:srgbClr val="EA580C"/>
                </a:solidFill>
              </a:rPr>
              <a:t>14.3%</a:t>
            </a:r>
            <a:endParaRPr lang="en-US" sz="2000" dirty="0"/>
          </a:p>
        </p:txBody>
      </p:sp>
      <p:sp>
        <p:nvSpPr>
          <p:cNvPr id="6" name="Text 4"/>
          <p:cNvSpPr/>
          <p:nvPr/>
        </p:nvSpPr>
        <p:spPr>
          <a:xfrm>
            <a:off x="320040" y="1216152"/>
            <a:ext cx="1965960" cy="320040"/>
          </a:xfrm>
          <a:prstGeom prst="rect">
            <a:avLst/>
          </a:prstGeom>
          <a:noFill/>
          <a:ln/>
        </p:spPr>
        <p:txBody>
          <a:bodyPr wrap="square" lIns="0" tIns="0" rIns="0" bIns="0" rtlCol="0" anchor="ctr"/>
          <a:lstStyle/>
          <a:p>
            <a:pPr marL="0" indent="0" algn="ctr">
              <a:buNone/>
            </a:pPr>
            <a:r>
              <a:rPr lang="en-US" sz="1200" dirty="0">
                <a:solidFill>
                  <a:srgbClr val="64748B"/>
                </a:solidFill>
              </a:rPr>
              <a:t>Black Friday · November 2017</a:t>
            </a:r>
            <a:endParaRPr lang="en-US" sz="1200" dirty="0"/>
          </a:p>
        </p:txBody>
      </p:sp>
      <p:sp>
        <p:nvSpPr>
          <p:cNvPr id="7" name="Shape 5"/>
          <p:cNvSpPr/>
          <p:nvPr/>
        </p:nvSpPr>
        <p:spPr>
          <a:xfrm>
            <a:off x="2468880" y="804672"/>
            <a:ext cx="1965960" cy="777240"/>
          </a:xfrm>
          <a:prstGeom prst="rect">
            <a:avLst/>
          </a:prstGeom>
          <a:solidFill>
            <a:srgbClr val="FFFFFF"/>
          </a:solidFill>
          <a:ln w="25400">
            <a:solidFill>
              <a:srgbClr val="EA580C"/>
            </a:solidFill>
            <a:prstDash val="solid"/>
          </a:ln>
        </p:spPr>
      </p:sp>
      <p:sp>
        <p:nvSpPr>
          <p:cNvPr id="8" name="Text 6"/>
          <p:cNvSpPr/>
          <p:nvPr/>
        </p:nvSpPr>
        <p:spPr>
          <a:xfrm>
            <a:off x="2468880" y="822960"/>
            <a:ext cx="1965960" cy="411480"/>
          </a:xfrm>
          <a:prstGeom prst="rect">
            <a:avLst/>
          </a:prstGeom>
          <a:noFill/>
          <a:ln/>
        </p:spPr>
        <p:txBody>
          <a:bodyPr wrap="square" lIns="0" tIns="0" rIns="0" bIns="0" rtlCol="0" anchor="ctr"/>
          <a:lstStyle/>
          <a:p>
            <a:pPr marL="0" indent="0" algn="ctr">
              <a:buNone/>
            </a:pPr>
            <a:r>
              <a:rPr lang="en-US" sz="2000" b="1" dirty="0">
                <a:solidFill>
                  <a:srgbClr val="EA580C"/>
                </a:solidFill>
              </a:rPr>
              <a:t>16.0%</a:t>
            </a:r>
            <a:endParaRPr lang="en-US" sz="2000" dirty="0"/>
          </a:p>
        </p:txBody>
      </p:sp>
      <p:sp>
        <p:nvSpPr>
          <p:cNvPr id="9" name="Text 7"/>
          <p:cNvSpPr/>
          <p:nvPr/>
        </p:nvSpPr>
        <p:spPr>
          <a:xfrm>
            <a:off x="2468880" y="1216152"/>
            <a:ext cx="1965960" cy="320040"/>
          </a:xfrm>
          <a:prstGeom prst="rect">
            <a:avLst/>
          </a:prstGeom>
          <a:noFill/>
          <a:ln/>
        </p:spPr>
        <p:txBody>
          <a:bodyPr wrap="square" lIns="0" tIns="0" rIns="0" bIns="0" rtlCol="0" anchor="ctr"/>
          <a:lstStyle/>
          <a:p>
            <a:pPr marL="0" indent="0" algn="ctr">
              <a:buNone/>
            </a:pPr>
            <a:r>
              <a:rPr lang="en-US" sz="1200" dirty="0">
                <a:solidFill>
                  <a:srgbClr val="64748B"/>
                </a:solidFill>
              </a:rPr>
              <a:t>Carnival · January 2018</a:t>
            </a:r>
            <a:endParaRPr lang="en-US" sz="1200" dirty="0"/>
          </a:p>
        </p:txBody>
      </p:sp>
      <p:sp>
        <p:nvSpPr>
          <p:cNvPr id="10" name="Shape 8"/>
          <p:cNvSpPr/>
          <p:nvPr/>
        </p:nvSpPr>
        <p:spPr>
          <a:xfrm>
            <a:off x="4617720" y="804672"/>
            <a:ext cx="1965960" cy="777240"/>
          </a:xfrm>
          <a:prstGeom prst="rect">
            <a:avLst/>
          </a:prstGeom>
          <a:solidFill>
            <a:srgbClr val="FFFFFF"/>
          </a:solidFill>
          <a:ln w="25400">
            <a:solidFill>
              <a:srgbClr val="DC2626"/>
            </a:solidFill>
            <a:prstDash val="solid"/>
          </a:ln>
        </p:spPr>
      </p:sp>
      <p:sp>
        <p:nvSpPr>
          <p:cNvPr id="11" name="Text 9"/>
          <p:cNvSpPr/>
          <p:nvPr/>
        </p:nvSpPr>
        <p:spPr>
          <a:xfrm>
            <a:off x="4617720" y="822960"/>
            <a:ext cx="1965960" cy="411480"/>
          </a:xfrm>
          <a:prstGeom prst="rect">
            <a:avLst/>
          </a:prstGeom>
          <a:noFill/>
          <a:ln/>
        </p:spPr>
        <p:txBody>
          <a:bodyPr wrap="square" lIns="0" tIns="0" rIns="0" bIns="0" rtlCol="0" anchor="ctr"/>
          <a:lstStyle/>
          <a:p>
            <a:pPr marL="0" indent="0" algn="ctr">
              <a:buNone/>
            </a:pPr>
            <a:r>
              <a:rPr lang="en-US" sz="2000" b="1" dirty="0">
                <a:solidFill>
                  <a:srgbClr val="DC2626"/>
                </a:solidFill>
              </a:rPr>
              <a:t>21.4%</a:t>
            </a:r>
            <a:endParaRPr lang="en-US" sz="2000" dirty="0"/>
          </a:p>
        </p:txBody>
      </p:sp>
      <p:sp>
        <p:nvSpPr>
          <p:cNvPr id="12" name="Text 10"/>
          <p:cNvSpPr/>
          <p:nvPr/>
        </p:nvSpPr>
        <p:spPr>
          <a:xfrm>
            <a:off x="4617720" y="1216152"/>
            <a:ext cx="1965960" cy="320040"/>
          </a:xfrm>
          <a:prstGeom prst="rect">
            <a:avLst/>
          </a:prstGeom>
          <a:noFill/>
          <a:ln/>
        </p:spPr>
        <p:txBody>
          <a:bodyPr wrap="square" lIns="0" tIns="0" rIns="0" bIns="0" rtlCol="0" anchor="ctr"/>
          <a:lstStyle/>
          <a:p>
            <a:pPr marL="0" indent="0" algn="ctr">
              <a:buNone/>
            </a:pPr>
            <a:r>
              <a:rPr lang="en-US" sz="1200" dirty="0">
                <a:solidFill>
                  <a:srgbClr val="64748B"/>
                </a:solidFill>
              </a:rPr>
              <a:t>Peak Month · March 2018</a:t>
            </a:r>
            <a:endParaRPr lang="en-US" sz="1200" dirty="0"/>
          </a:p>
        </p:txBody>
      </p:sp>
      <p:sp>
        <p:nvSpPr>
          <p:cNvPr id="13" name="Shape 11"/>
          <p:cNvSpPr/>
          <p:nvPr/>
        </p:nvSpPr>
        <p:spPr>
          <a:xfrm>
            <a:off x="6766560" y="804672"/>
            <a:ext cx="1965960" cy="777240"/>
          </a:xfrm>
          <a:prstGeom prst="rect">
            <a:avLst/>
          </a:prstGeom>
          <a:solidFill>
            <a:srgbClr val="FFFFFF"/>
          </a:solidFill>
          <a:ln w="25400">
            <a:solidFill>
              <a:srgbClr val="1B4F72"/>
            </a:solidFill>
            <a:prstDash val="solid"/>
          </a:ln>
        </p:spPr>
      </p:sp>
      <p:sp>
        <p:nvSpPr>
          <p:cNvPr id="14" name="Text 12"/>
          <p:cNvSpPr/>
          <p:nvPr/>
        </p:nvSpPr>
        <p:spPr>
          <a:xfrm>
            <a:off x="6766560" y="822960"/>
            <a:ext cx="1965960" cy="411480"/>
          </a:xfrm>
          <a:prstGeom prst="rect">
            <a:avLst/>
          </a:prstGeom>
          <a:noFill/>
          <a:ln/>
        </p:spPr>
        <p:txBody>
          <a:bodyPr wrap="square" lIns="0" tIns="0" rIns="0" bIns="0" rtlCol="0" anchor="ctr"/>
          <a:lstStyle/>
          <a:p>
            <a:pPr marL="0" indent="0" algn="ctr">
              <a:buNone/>
            </a:pPr>
            <a:r>
              <a:rPr lang="en-US" sz="2000" b="1" dirty="0">
                <a:solidFill>
                  <a:srgbClr val="1B4F72"/>
                </a:solidFill>
              </a:rPr>
              <a:t>8.1%</a:t>
            </a:r>
            <a:endParaRPr lang="en-US" sz="2000" dirty="0"/>
          </a:p>
        </p:txBody>
      </p:sp>
      <p:sp>
        <p:nvSpPr>
          <p:cNvPr id="15" name="Text 13"/>
          <p:cNvSpPr/>
          <p:nvPr/>
        </p:nvSpPr>
        <p:spPr>
          <a:xfrm>
            <a:off x="6766560" y="1216152"/>
            <a:ext cx="1965960" cy="320040"/>
          </a:xfrm>
          <a:prstGeom prst="rect">
            <a:avLst/>
          </a:prstGeom>
          <a:noFill/>
          <a:ln/>
        </p:spPr>
        <p:txBody>
          <a:bodyPr wrap="square" lIns="0" tIns="0" rIns="0" bIns="0" rtlCol="0" anchor="ctr"/>
          <a:lstStyle/>
          <a:p>
            <a:pPr marL="0" indent="0" algn="ctr">
              <a:buNone/>
            </a:pPr>
            <a:r>
              <a:rPr lang="en-US" sz="1200" dirty="0">
                <a:solidFill>
                  <a:srgbClr val="64748B"/>
                </a:solidFill>
              </a:rPr>
              <a:t>National Average · Baseline</a:t>
            </a:r>
            <a:endParaRPr lang="en-US" sz="800" dirty="0"/>
          </a:p>
        </p:txBody>
      </p:sp>
      <p:pic>
        <p:nvPicPr>
          <p:cNvPr id="16" name="Image 0" descr="preencoded.png"/>
          <p:cNvPicPr>
            <a:picLocks noChangeAspect="1"/>
          </p:cNvPicPr>
          <p:nvPr/>
        </p:nvPicPr>
        <p:blipFill>
          <a:blip r:embed="rId3"/>
          <a:stretch>
            <a:fillRect/>
          </a:stretch>
        </p:blipFill>
        <p:spPr>
          <a:xfrm>
            <a:off x="91440" y="1691640"/>
            <a:ext cx="8961120" cy="32918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Text 1"/>
          <p:cNvSpPr/>
          <p:nvPr/>
        </p:nvSpPr>
        <p:spPr>
          <a:xfrm>
            <a:off x="365760" y="0"/>
            <a:ext cx="8229600" cy="685800"/>
          </a:xfrm>
          <a:prstGeom prst="rect">
            <a:avLst/>
          </a:prstGeom>
          <a:noFill/>
          <a:ln/>
        </p:spPr>
        <p:txBody>
          <a:bodyPr wrap="square" lIns="0" tIns="0" rIns="0" bIns="0" rtlCol="0" anchor="ctr"/>
          <a:lstStyle/>
          <a:p>
            <a:pPr marL="0" indent="0">
              <a:buNone/>
            </a:pPr>
            <a:r>
              <a:rPr lang="en-US" sz="2000" b="1" dirty="0">
                <a:solidFill>
                  <a:srgbClr val="FFFFFF"/>
                </a:solidFill>
              </a:rPr>
              <a:t>05  |  Late Delivery Rate by Brazilian State</a:t>
            </a:r>
            <a:endParaRPr lang="en-US" sz="2000" dirty="0"/>
          </a:p>
        </p:txBody>
      </p:sp>
      <p:sp>
        <p:nvSpPr>
          <p:cNvPr id="4" name="Shape 2"/>
          <p:cNvSpPr/>
          <p:nvPr/>
        </p:nvSpPr>
        <p:spPr>
          <a:xfrm>
            <a:off x="320040" y="804672"/>
            <a:ext cx="2606040" cy="777240"/>
          </a:xfrm>
          <a:prstGeom prst="rect">
            <a:avLst/>
          </a:prstGeom>
          <a:solidFill>
            <a:srgbClr val="DC2626">
              <a:alpha val="12000"/>
            </a:srgbClr>
          </a:solidFill>
          <a:ln w="19050">
            <a:solidFill>
              <a:srgbClr val="DC2626"/>
            </a:solidFill>
            <a:prstDash val="solid"/>
          </a:ln>
        </p:spPr>
      </p:sp>
      <p:sp>
        <p:nvSpPr>
          <p:cNvPr id="5" name="Text 3"/>
          <p:cNvSpPr/>
          <p:nvPr/>
        </p:nvSpPr>
        <p:spPr>
          <a:xfrm>
            <a:off x="393192" y="822960"/>
            <a:ext cx="2468880" cy="320040"/>
          </a:xfrm>
          <a:prstGeom prst="rect">
            <a:avLst/>
          </a:prstGeom>
          <a:noFill/>
          <a:ln/>
        </p:spPr>
        <p:txBody>
          <a:bodyPr wrap="square" lIns="0" tIns="0" rIns="0" bIns="0" rtlCol="0" anchor="ctr"/>
          <a:lstStyle/>
          <a:p>
            <a:pPr marL="0" indent="0">
              <a:buNone/>
            </a:pPr>
            <a:r>
              <a:rPr lang="en-US" sz="1400" b="1" dirty="0">
                <a:solidFill>
                  <a:srgbClr val="DC2626"/>
                </a:solidFill>
              </a:rPr>
              <a:t>Critical (≥15%)</a:t>
            </a:r>
            <a:endParaRPr lang="en-US" sz="1400" dirty="0"/>
          </a:p>
        </p:txBody>
      </p:sp>
      <p:sp>
        <p:nvSpPr>
          <p:cNvPr id="6" name="Text 4"/>
          <p:cNvSpPr/>
          <p:nvPr/>
        </p:nvSpPr>
        <p:spPr>
          <a:xfrm>
            <a:off x="393192" y="1115568"/>
            <a:ext cx="2468880" cy="411480"/>
          </a:xfrm>
          <a:prstGeom prst="rect">
            <a:avLst/>
          </a:prstGeom>
          <a:noFill/>
          <a:ln/>
        </p:spPr>
        <p:txBody>
          <a:bodyPr wrap="square" lIns="0" tIns="0" rIns="0" bIns="0" rtlCol="0" anchor="ctr"/>
          <a:lstStyle/>
          <a:p>
            <a:pPr marL="0" indent="0">
              <a:buNone/>
            </a:pPr>
            <a:r>
              <a:rPr lang="en-US" sz="1100" dirty="0">
                <a:solidFill>
                  <a:srgbClr val="64748B"/>
                </a:solidFill>
              </a:rPr>
              <a:t>AL · MA · PI · CE · SE</a:t>
            </a:r>
            <a:endParaRPr lang="en-US" sz="850" dirty="0"/>
          </a:p>
        </p:txBody>
      </p:sp>
      <p:sp>
        <p:nvSpPr>
          <p:cNvPr id="7" name="Shape 5"/>
          <p:cNvSpPr/>
          <p:nvPr/>
        </p:nvSpPr>
        <p:spPr>
          <a:xfrm>
            <a:off x="3154680" y="804672"/>
            <a:ext cx="2606040" cy="777240"/>
          </a:xfrm>
          <a:prstGeom prst="rect">
            <a:avLst/>
          </a:prstGeom>
          <a:solidFill>
            <a:srgbClr val="EA580C">
              <a:alpha val="12000"/>
            </a:srgbClr>
          </a:solidFill>
          <a:ln w="19050">
            <a:solidFill>
              <a:srgbClr val="EA580C"/>
            </a:solidFill>
            <a:prstDash val="solid"/>
          </a:ln>
        </p:spPr>
      </p:sp>
      <p:sp>
        <p:nvSpPr>
          <p:cNvPr id="8" name="Text 6"/>
          <p:cNvSpPr/>
          <p:nvPr/>
        </p:nvSpPr>
        <p:spPr>
          <a:xfrm>
            <a:off x="3227832" y="822960"/>
            <a:ext cx="2468880" cy="320040"/>
          </a:xfrm>
          <a:prstGeom prst="rect">
            <a:avLst/>
          </a:prstGeom>
          <a:noFill/>
          <a:ln/>
        </p:spPr>
        <p:txBody>
          <a:bodyPr wrap="square" lIns="0" tIns="0" rIns="0" bIns="0" rtlCol="0" anchor="ctr"/>
          <a:lstStyle/>
          <a:p>
            <a:pPr marL="0" indent="0">
              <a:buNone/>
            </a:pPr>
            <a:r>
              <a:rPr lang="en-US" sz="1400" b="1" dirty="0">
                <a:solidFill>
                  <a:srgbClr val="EA580C"/>
                </a:solidFill>
              </a:rPr>
              <a:t>Warning (10–15%)</a:t>
            </a:r>
            <a:endParaRPr lang="en-US" sz="1400" dirty="0"/>
          </a:p>
        </p:txBody>
      </p:sp>
      <p:sp>
        <p:nvSpPr>
          <p:cNvPr id="9" name="Text 7"/>
          <p:cNvSpPr/>
          <p:nvPr/>
        </p:nvSpPr>
        <p:spPr>
          <a:xfrm>
            <a:off x="3227832" y="1115568"/>
            <a:ext cx="2468880" cy="411480"/>
          </a:xfrm>
          <a:prstGeom prst="rect">
            <a:avLst/>
          </a:prstGeom>
          <a:noFill/>
          <a:ln/>
        </p:spPr>
        <p:txBody>
          <a:bodyPr wrap="square" lIns="0" tIns="0" rIns="0" bIns="0" rtlCol="0" anchor="ctr"/>
          <a:lstStyle/>
          <a:p>
            <a:pPr marL="0" indent="0">
              <a:buNone/>
            </a:pPr>
            <a:r>
              <a:rPr lang="en-US" sz="1050" dirty="0">
                <a:solidFill>
                  <a:srgbClr val="64748B"/>
                </a:solidFill>
              </a:rPr>
              <a:t>BA · RJ · TO · PA · ES · RR · MS · PB · PE · RN</a:t>
            </a:r>
            <a:endParaRPr lang="en-US" sz="850" dirty="0"/>
          </a:p>
        </p:txBody>
      </p:sp>
      <p:sp>
        <p:nvSpPr>
          <p:cNvPr id="10" name="Shape 8"/>
          <p:cNvSpPr/>
          <p:nvPr/>
        </p:nvSpPr>
        <p:spPr>
          <a:xfrm>
            <a:off x="5989320" y="804672"/>
            <a:ext cx="2606040" cy="777240"/>
          </a:xfrm>
          <a:prstGeom prst="rect">
            <a:avLst/>
          </a:prstGeom>
          <a:solidFill>
            <a:srgbClr val="16A34A">
              <a:alpha val="12000"/>
            </a:srgbClr>
          </a:solidFill>
          <a:ln w="19050">
            <a:solidFill>
              <a:srgbClr val="16A34A"/>
            </a:solidFill>
            <a:prstDash val="solid"/>
          </a:ln>
        </p:spPr>
      </p:sp>
      <p:sp>
        <p:nvSpPr>
          <p:cNvPr id="11" name="Text 9"/>
          <p:cNvSpPr/>
          <p:nvPr/>
        </p:nvSpPr>
        <p:spPr>
          <a:xfrm>
            <a:off x="6062472" y="822960"/>
            <a:ext cx="2468880" cy="320040"/>
          </a:xfrm>
          <a:prstGeom prst="rect">
            <a:avLst/>
          </a:prstGeom>
          <a:noFill/>
          <a:ln/>
        </p:spPr>
        <p:txBody>
          <a:bodyPr wrap="square" lIns="0" tIns="0" rIns="0" bIns="0" rtlCol="0" anchor="ctr"/>
          <a:lstStyle/>
          <a:p>
            <a:pPr marL="0" indent="0">
              <a:buNone/>
            </a:pPr>
            <a:r>
              <a:rPr lang="en-US" sz="1400" b="1" dirty="0">
                <a:solidFill>
                  <a:srgbClr val="16A34A"/>
                </a:solidFill>
              </a:rPr>
              <a:t>OK (&lt;10%)</a:t>
            </a:r>
            <a:endParaRPr lang="en-US" sz="1400" dirty="0"/>
          </a:p>
        </p:txBody>
      </p:sp>
      <p:sp>
        <p:nvSpPr>
          <p:cNvPr id="12" name="Text 10"/>
          <p:cNvSpPr/>
          <p:nvPr/>
        </p:nvSpPr>
        <p:spPr>
          <a:xfrm>
            <a:off x="6062472" y="1115568"/>
            <a:ext cx="2468880" cy="411480"/>
          </a:xfrm>
          <a:prstGeom prst="rect">
            <a:avLst/>
          </a:prstGeom>
          <a:noFill/>
          <a:ln/>
        </p:spPr>
        <p:txBody>
          <a:bodyPr wrap="square" lIns="0" tIns="0" rIns="0" bIns="0" rtlCol="0" anchor="ctr"/>
          <a:lstStyle/>
          <a:p>
            <a:pPr marL="0" indent="0">
              <a:buNone/>
            </a:pPr>
            <a:r>
              <a:rPr lang="en-US" sz="1100" dirty="0">
                <a:solidFill>
                  <a:srgbClr val="64748B"/>
                </a:solidFill>
              </a:rPr>
              <a:t>SC · GO · RS · DF · MT · SP · MG · PR · AP · AM · AC · RO</a:t>
            </a:r>
            <a:endParaRPr lang="en-US" sz="1100" dirty="0"/>
          </a:p>
        </p:txBody>
      </p:sp>
      <p:pic>
        <p:nvPicPr>
          <p:cNvPr id="13" name="Image 0" descr="preencoded.png"/>
          <p:cNvPicPr>
            <a:picLocks noChangeAspect="1"/>
          </p:cNvPicPr>
          <p:nvPr/>
        </p:nvPicPr>
        <p:blipFill>
          <a:blip r:embed="rId3"/>
          <a:stretch>
            <a:fillRect/>
          </a:stretch>
        </p:blipFill>
        <p:spPr>
          <a:xfrm>
            <a:off x="91440" y="1691640"/>
            <a:ext cx="5120640" cy="3291840"/>
          </a:xfrm>
          <a:prstGeom prst="rect">
            <a:avLst/>
          </a:prstGeom>
        </p:spPr>
      </p:pic>
      <p:pic>
        <p:nvPicPr>
          <p:cNvPr id="14" name="Image 1" descr="preencoded.png"/>
          <p:cNvPicPr>
            <a:picLocks noChangeAspect="1"/>
          </p:cNvPicPr>
          <p:nvPr/>
        </p:nvPicPr>
        <p:blipFill>
          <a:blip r:embed="rId4"/>
          <a:stretch>
            <a:fillRect/>
          </a:stretch>
        </p:blipFill>
        <p:spPr>
          <a:xfrm>
            <a:off x="4937760" y="1691640"/>
            <a:ext cx="4114800" cy="32918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Text 1"/>
          <p:cNvSpPr/>
          <p:nvPr/>
        </p:nvSpPr>
        <p:spPr>
          <a:xfrm>
            <a:off x="365760" y="0"/>
            <a:ext cx="8229600" cy="685800"/>
          </a:xfrm>
          <a:prstGeom prst="rect">
            <a:avLst/>
          </a:prstGeom>
          <a:noFill/>
          <a:ln/>
        </p:spPr>
        <p:txBody>
          <a:bodyPr wrap="square" lIns="0" tIns="0" rIns="0" bIns="0" rtlCol="0" anchor="ctr"/>
          <a:lstStyle/>
          <a:p>
            <a:pPr marL="0" indent="0">
              <a:buNone/>
            </a:pPr>
            <a:r>
              <a:rPr lang="en-US" sz="2000" b="1" dirty="0">
                <a:solidFill>
                  <a:srgbClr val="FFFFFF"/>
                </a:solidFill>
              </a:rPr>
              <a:t>06  |  Key Findings &amp; Recommendations</a:t>
            </a:r>
            <a:endParaRPr lang="en-US" sz="2000" dirty="0"/>
          </a:p>
        </p:txBody>
      </p:sp>
      <p:sp>
        <p:nvSpPr>
          <p:cNvPr id="4" name="Text 2"/>
          <p:cNvSpPr/>
          <p:nvPr/>
        </p:nvSpPr>
        <p:spPr>
          <a:xfrm>
            <a:off x="320040" y="804672"/>
            <a:ext cx="4114800" cy="365760"/>
          </a:xfrm>
          <a:prstGeom prst="rect">
            <a:avLst/>
          </a:prstGeom>
          <a:noFill/>
          <a:ln/>
        </p:spPr>
        <p:txBody>
          <a:bodyPr wrap="square" lIns="0" tIns="0" rIns="0" bIns="0" rtlCol="0" anchor="ctr"/>
          <a:lstStyle/>
          <a:p>
            <a:pPr marL="0" indent="0">
              <a:buNone/>
            </a:pPr>
            <a:r>
              <a:rPr lang="en-US" sz="1400" b="1" dirty="0">
                <a:solidFill>
                  <a:srgbClr val="0D1B2A"/>
                </a:solidFill>
              </a:rPr>
              <a:t>Key Findings</a:t>
            </a:r>
            <a:endParaRPr lang="en-US" sz="1400" dirty="0"/>
          </a:p>
        </p:txBody>
      </p:sp>
      <p:sp>
        <p:nvSpPr>
          <p:cNvPr id="5" name="Shape 3"/>
          <p:cNvSpPr/>
          <p:nvPr/>
        </p:nvSpPr>
        <p:spPr>
          <a:xfrm>
            <a:off x="320040" y="1234440"/>
            <a:ext cx="4069080" cy="640080"/>
          </a:xfrm>
          <a:prstGeom prst="rect">
            <a:avLst/>
          </a:prstGeom>
          <a:solidFill>
            <a:srgbClr val="FFFFFF"/>
          </a:solidFill>
          <a:ln w="12700">
            <a:solidFill>
              <a:srgbClr val="E2E8F0"/>
            </a:solidFill>
            <a:prstDash val="solid"/>
          </a:ln>
        </p:spPr>
      </p:sp>
      <p:sp>
        <p:nvSpPr>
          <p:cNvPr id="6" name="Text 4"/>
          <p:cNvSpPr/>
          <p:nvPr/>
        </p:nvSpPr>
        <p:spPr>
          <a:xfrm>
            <a:off x="457200" y="1261872"/>
            <a:ext cx="3794760" cy="585216"/>
          </a:xfrm>
          <a:prstGeom prst="rect">
            <a:avLst/>
          </a:prstGeom>
          <a:noFill/>
          <a:ln/>
        </p:spPr>
        <p:txBody>
          <a:bodyPr wrap="square" lIns="0" tIns="0" rIns="0" bIns="0" rtlCol="0" anchor="ctr"/>
          <a:lstStyle/>
          <a:p>
            <a:pPr marL="0" indent="0">
              <a:buNone/>
            </a:pPr>
            <a:r>
              <a:rPr lang="en-US" sz="1200" dirty="0">
                <a:solidFill>
                  <a:srgbClr val="0D1B2A"/>
                </a:solidFill>
              </a:rPr>
              <a:t>Strong baseline on-time performance; the majority of deliveries meet customer expectations.</a:t>
            </a:r>
            <a:endParaRPr lang="en-US" sz="1200" dirty="0"/>
          </a:p>
        </p:txBody>
      </p:sp>
      <p:sp>
        <p:nvSpPr>
          <p:cNvPr id="7" name="Shape 5"/>
          <p:cNvSpPr/>
          <p:nvPr/>
        </p:nvSpPr>
        <p:spPr>
          <a:xfrm>
            <a:off x="320040" y="1956816"/>
            <a:ext cx="4069080" cy="640080"/>
          </a:xfrm>
          <a:prstGeom prst="rect">
            <a:avLst/>
          </a:prstGeom>
          <a:solidFill>
            <a:srgbClr val="FFFFFF"/>
          </a:solidFill>
          <a:ln w="12700">
            <a:solidFill>
              <a:srgbClr val="E2E8F0"/>
            </a:solidFill>
            <a:prstDash val="solid"/>
          </a:ln>
        </p:spPr>
      </p:sp>
      <p:sp>
        <p:nvSpPr>
          <p:cNvPr id="8" name="Text 6"/>
          <p:cNvSpPr/>
          <p:nvPr/>
        </p:nvSpPr>
        <p:spPr>
          <a:xfrm>
            <a:off x="457200" y="1984248"/>
            <a:ext cx="3794760" cy="585216"/>
          </a:xfrm>
          <a:prstGeom prst="rect">
            <a:avLst/>
          </a:prstGeom>
          <a:noFill/>
          <a:ln/>
        </p:spPr>
        <p:txBody>
          <a:bodyPr wrap="square" lIns="0" tIns="0" rIns="0" bIns="0" rtlCol="0" anchor="ctr"/>
          <a:lstStyle/>
          <a:p>
            <a:pPr marL="0" indent="0">
              <a:buNone/>
            </a:pPr>
            <a:r>
              <a:rPr lang="en-US" sz="1200" dirty="0">
                <a:solidFill>
                  <a:srgbClr val="0D1B2A"/>
                </a:solidFill>
              </a:rPr>
              <a:t>Super-late orders cause disproportionate satisfaction damage; review scores collapse vs. on-time deliveries.</a:t>
            </a:r>
            <a:endParaRPr lang="en-US" sz="1200" dirty="0"/>
          </a:p>
        </p:txBody>
      </p:sp>
      <p:sp>
        <p:nvSpPr>
          <p:cNvPr id="9" name="Shape 7"/>
          <p:cNvSpPr/>
          <p:nvPr/>
        </p:nvSpPr>
        <p:spPr>
          <a:xfrm>
            <a:off x="320040" y="2679192"/>
            <a:ext cx="4069080" cy="640080"/>
          </a:xfrm>
          <a:prstGeom prst="rect">
            <a:avLst/>
          </a:prstGeom>
          <a:solidFill>
            <a:srgbClr val="FFFFFF"/>
          </a:solidFill>
          <a:ln w="12700">
            <a:solidFill>
              <a:srgbClr val="E2E8F0"/>
            </a:solidFill>
            <a:prstDash val="solid"/>
          </a:ln>
        </p:spPr>
      </p:sp>
      <p:sp>
        <p:nvSpPr>
          <p:cNvPr id="10" name="Text 8"/>
          <p:cNvSpPr/>
          <p:nvPr/>
        </p:nvSpPr>
        <p:spPr>
          <a:xfrm>
            <a:off x="457200" y="2706624"/>
            <a:ext cx="3794760" cy="585216"/>
          </a:xfrm>
          <a:prstGeom prst="rect">
            <a:avLst/>
          </a:prstGeom>
          <a:noFill/>
          <a:ln/>
        </p:spPr>
        <p:txBody>
          <a:bodyPr wrap="square" lIns="0" tIns="0" rIns="0" bIns="0" rtlCol="0" anchor="ctr"/>
          <a:lstStyle/>
          <a:p>
            <a:pPr marL="0" indent="0">
              <a:buNone/>
            </a:pPr>
            <a:r>
              <a:rPr lang="en-US" sz="1200" dirty="0">
                <a:solidFill>
                  <a:srgbClr val="0D1B2A"/>
                </a:solidFill>
              </a:rPr>
              <a:t>Carnival and Black Friday drive predictable seasonal surges demand spikes are foreseeable and preventable.</a:t>
            </a:r>
            <a:endParaRPr lang="en-US" sz="1200" dirty="0"/>
          </a:p>
        </p:txBody>
      </p:sp>
      <p:sp>
        <p:nvSpPr>
          <p:cNvPr id="11" name="Shape 9"/>
          <p:cNvSpPr/>
          <p:nvPr/>
        </p:nvSpPr>
        <p:spPr>
          <a:xfrm>
            <a:off x="320040" y="3401568"/>
            <a:ext cx="4069080" cy="640080"/>
          </a:xfrm>
          <a:prstGeom prst="rect">
            <a:avLst/>
          </a:prstGeom>
          <a:solidFill>
            <a:srgbClr val="FFFFFF"/>
          </a:solidFill>
          <a:ln w="12700">
            <a:solidFill>
              <a:srgbClr val="E2E8F0"/>
            </a:solidFill>
            <a:prstDash val="solid"/>
          </a:ln>
        </p:spPr>
      </p:sp>
      <p:sp>
        <p:nvSpPr>
          <p:cNvPr id="12" name="Text 10"/>
          <p:cNvSpPr/>
          <p:nvPr/>
        </p:nvSpPr>
        <p:spPr>
          <a:xfrm>
            <a:off x="457200" y="3429000"/>
            <a:ext cx="3794760" cy="585216"/>
          </a:xfrm>
          <a:prstGeom prst="rect">
            <a:avLst/>
          </a:prstGeom>
          <a:noFill/>
          <a:ln/>
        </p:spPr>
        <p:txBody>
          <a:bodyPr wrap="square" lIns="0" tIns="0" rIns="0" bIns="0" rtlCol="0" anchor="ctr"/>
          <a:lstStyle/>
          <a:p>
            <a:pPr marL="0" indent="0">
              <a:buNone/>
            </a:pPr>
            <a:r>
              <a:rPr lang="en-US" sz="1200" dirty="0">
                <a:solidFill>
                  <a:srgbClr val="0D1B2A"/>
                </a:solidFill>
              </a:rPr>
              <a:t>Alagoas (AL) leads critical states at 23.9%; Northeast corridor systemically underperforms.</a:t>
            </a:r>
            <a:endParaRPr lang="en-US" sz="1200" dirty="0"/>
          </a:p>
        </p:txBody>
      </p:sp>
      <p:sp>
        <p:nvSpPr>
          <p:cNvPr id="13" name="Shape 11"/>
          <p:cNvSpPr/>
          <p:nvPr/>
        </p:nvSpPr>
        <p:spPr>
          <a:xfrm>
            <a:off x="320040" y="4123944"/>
            <a:ext cx="4069080" cy="640080"/>
          </a:xfrm>
          <a:prstGeom prst="rect">
            <a:avLst/>
          </a:prstGeom>
          <a:solidFill>
            <a:srgbClr val="FFFFFF"/>
          </a:solidFill>
          <a:ln w="12700">
            <a:solidFill>
              <a:srgbClr val="E2E8F0"/>
            </a:solidFill>
            <a:prstDash val="solid"/>
          </a:ln>
        </p:spPr>
      </p:sp>
      <p:sp>
        <p:nvSpPr>
          <p:cNvPr id="14" name="Text 12"/>
          <p:cNvSpPr/>
          <p:nvPr/>
        </p:nvSpPr>
        <p:spPr>
          <a:xfrm>
            <a:off x="457200" y="4151376"/>
            <a:ext cx="3794760" cy="585216"/>
          </a:xfrm>
          <a:prstGeom prst="rect">
            <a:avLst/>
          </a:prstGeom>
          <a:noFill/>
          <a:ln/>
        </p:spPr>
        <p:txBody>
          <a:bodyPr wrap="square" lIns="0" tIns="0" rIns="0" bIns="0" rtlCol="0" anchor="ctr"/>
          <a:lstStyle/>
          <a:p>
            <a:pPr marL="0" indent="0">
              <a:buNone/>
            </a:pPr>
            <a:r>
              <a:rPr lang="en-US" sz="1200" dirty="0">
                <a:solidFill>
                  <a:srgbClr val="0D1B2A"/>
                </a:solidFill>
              </a:rPr>
              <a:t>São Paulo (SP) has highest absolute volume but maintains a healthy 5.9% late rate.</a:t>
            </a:r>
            <a:endParaRPr lang="en-US" sz="1200" dirty="0"/>
          </a:p>
        </p:txBody>
      </p:sp>
      <p:sp>
        <p:nvSpPr>
          <p:cNvPr id="15" name="Text 13"/>
          <p:cNvSpPr/>
          <p:nvPr/>
        </p:nvSpPr>
        <p:spPr>
          <a:xfrm>
            <a:off x="4754880" y="804672"/>
            <a:ext cx="4114800" cy="365760"/>
          </a:xfrm>
          <a:prstGeom prst="rect">
            <a:avLst/>
          </a:prstGeom>
          <a:noFill/>
          <a:ln/>
        </p:spPr>
        <p:txBody>
          <a:bodyPr wrap="square" lIns="0" tIns="0" rIns="0" bIns="0" rtlCol="0" anchor="ctr"/>
          <a:lstStyle/>
          <a:p>
            <a:pPr marL="0" indent="0">
              <a:buNone/>
            </a:pPr>
            <a:r>
              <a:rPr lang="en-US" sz="1400" b="1" dirty="0">
                <a:solidFill>
                  <a:srgbClr val="0D9488"/>
                </a:solidFill>
              </a:rPr>
              <a:t>Recommendations</a:t>
            </a:r>
            <a:endParaRPr lang="en-US" sz="1400" dirty="0"/>
          </a:p>
        </p:txBody>
      </p:sp>
      <p:sp>
        <p:nvSpPr>
          <p:cNvPr id="16" name="Shape 14"/>
          <p:cNvSpPr/>
          <p:nvPr/>
        </p:nvSpPr>
        <p:spPr>
          <a:xfrm>
            <a:off x="4754880" y="1234440"/>
            <a:ext cx="4069080" cy="640080"/>
          </a:xfrm>
          <a:prstGeom prst="rect">
            <a:avLst/>
          </a:prstGeom>
          <a:solidFill>
            <a:srgbClr val="FFFFFF"/>
          </a:solidFill>
          <a:ln w="19050">
            <a:solidFill>
              <a:srgbClr val="0D9488"/>
            </a:solidFill>
            <a:prstDash val="solid"/>
          </a:ln>
        </p:spPr>
      </p:sp>
      <p:sp>
        <p:nvSpPr>
          <p:cNvPr id="18" name="Text 16"/>
          <p:cNvSpPr/>
          <p:nvPr/>
        </p:nvSpPr>
        <p:spPr>
          <a:xfrm>
            <a:off x="4754880" y="1234440"/>
            <a:ext cx="438912" cy="640080"/>
          </a:xfrm>
          <a:prstGeom prst="rect">
            <a:avLst/>
          </a:prstGeom>
          <a:noFill/>
          <a:ln/>
        </p:spPr>
        <p:txBody>
          <a:bodyPr wrap="square" lIns="0" tIns="0" rIns="0" bIns="0" rtlCol="0" anchor="ctr"/>
          <a:lstStyle/>
          <a:p>
            <a:pPr marL="0" indent="0" algn="ctr">
              <a:buNone/>
            </a:pPr>
            <a:r>
              <a:rPr lang="en-US" sz="1000" b="1" dirty="0">
                <a:solidFill>
                  <a:srgbClr val="FFFFFF"/>
                </a:solidFill>
              </a:rPr>
              <a:t>R1</a:t>
            </a:r>
            <a:endParaRPr lang="en-US" sz="1000" dirty="0"/>
          </a:p>
        </p:txBody>
      </p:sp>
      <p:sp>
        <p:nvSpPr>
          <p:cNvPr id="19" name="Text 17"/>
          <p:cNvSpPr/>
          <p:nvPr/>
        </p:nvSpPr>
        <p:spPr>
          <a:xfrm>
            <a:off x="5257800" y="1261872"/>
            <a:ext cx="3474720" cy="585216"/>
          </a:xfrm>
          <a:prstGeom prst="rect">
            <a:avLst/>
          </a:prstGeom>
          <a:noFill/>
          <a:ln/>
        </p:spPr>
        <p:txBody>
          <a:bodyPr wrap="square" lIns="0" tIns="0" rIns="0" bIns="0" rtlCol="0" anchor="ctr"/>
          <a:lstStyle/>
          <a:p>
            <a:pPr marL="0" indent="0">
              <a:buNone/>
            </a:pPr>
            <a:r>
              <a:rPr lang="en-US" sz="1200" dirty="0"/>
              <a:t>Deploy surge-capacity carrier contracts for November to March period to handle seasonal volume spikes.</a:t>
            </a:r>
          </a:p>
        </p:txBody>
      </p:sp>
      <p:sp>
        <p:nvSpPr>
          <p:cNvPr id="20" name="Shape 18"/>
          <p:cNvSpPr/>
          <p:nvPr/>
        </p:nvSpPr>
        <p:spPr>
          <a:xfrm>
            <a:off x="4754880" y="1994291"/>
            <a:ext cx="4069080" cy="640080"/>
          </a:xfrm>
          <a:prstGeom prst="rect">
            <a:avLst/>
          </a:prstGeom>
          <a:solidFill>
            <a:srgbClr val="FFFFFF"/>
          </a:solidFill>
          <a:ln w="19050">
            <a:solidFill>
              <a:srgbClr val="0D9488"/>
            </a:solidFill>
            <a:prstDash val="solid"/>
          </a:ln>
        </p:spPr>
      </p:sp>
      <p:sp>
        <p:nvSpPr>
          <p:cNvPr id="22" name="Text 20"/>
          <p:cNvSpPr/>
          <p:nvPr/>
        </p:nvSpPr>
        <p:spPr>
          <a:xfrm>
            <a:off x="4754880" y="1956816"/>
            <a:ext cx="438912" cy="640080"/>
          </a:xfrm>
          <a:prstGeom prst="rect">
            <a:avLst/>
          </a:prstGeom>
          <a:noFill/>
          <a:ln/>
        </p:spPr>
        <p:txBody>
          <a:bodyPr wrap="square" lIns="0" tIns="0" rIns="0" bIns="0" rtlCol="0" anchor="ctr"/>
          <a:lstStyle/>
          <a:p>
            <a:pPr marL="0" indent="0" algn="ctr">
              <a:buNone/>
            </a:pPr>
            <a:r>
              <a:rPr lang="en-US" sz="1000" b="1" dirty="0">
                <a:solidFill>
                  <a:srgbClr val="FFFFFF"/>
                </a:solidFill>
              </a:rPr>
              <a:t>R</a:t>
            </a:r>
            <a:endParaRPr lang="en-US" sz="1000" dirty="0"/>
          </a:p>
        </p:txBody>
      </p:sp>
      <p:sp>
        <p:nvSpPr>
          <p:cNvPr id="23" name="Text 21"/>
          <p:cNvSpPr/>
          <p:nvPr/>
        </p:nvSpPr>
        <p:spPr>
          <a:xfrm>
            <a:off x="5257800" y="1984248"/>
            <a:ext cx="3474720" cy="585216"/>
          </a:xfrm>
          <a:prstGeom prst="rect">
            <a:avLst/>
          </a:prstGeom>
          <a:noFill/>
          <a:ln/>
        </p:spPr>
        <p:txBody>
          <a:bodyPr wrap="square" lIns="0" tIns="0" rIns="0" bIns="0" rtlCol="0" anchor="ctr"/>
          <a:lstStyle/>
          <a:p>
            <a:pPr marL="0" indent="0">
              <a:buNone/>
            </a:pPr>
            <a:r>
              <a:rPr lang="en-US" sz="1200" dirty="0">
                <a:solidFill>
                  <a:srgbClr val="0D1B2A"/>
                </a:solidFill>
              </a:rPr>
              <a:t>Prioritize logistics partnerships in the Northeast corridor, critical states require urgent carrier investment.</a:t>
            </a:r>
            <a:endParaRPr lang="en-US" sz="1200" dirty="0"/>
          </a:p>
        </p:txBody>
      </p:sp>
      <p:sp>
        <p:nvSpPr>
          <p:cNvPr id="24" name="Shape 22"/>
          <p:cNvSpPr/>
          <p:nvPr/>
        </p:nvSpPr>
        <p:spPr>
          <a:xfrm>
            <a:off x="4754880" y="2679192"/>
            <a:ext cx="4069080" cy="640080"/>
          </a:xfrm>
          <a:prstGeom prst="rect">
            <a:avLst/>
          </a:prstGeom>
          <a:solidFill>
            <a:srgbClr val="FFFFFF"/>
          </a:solidFill>
          <a:ln w="19050">
            <a:solidFill>
              <a:srgbClr val="0D9488"/>
            </a:solidFill>
            <a:prstDash val="solid"/>
          </a:ln>
        </p:spPr>
      </p:sp>
      <p:sp>
        <p:nvSpPr>
          <p:cNvPr id="26" name="Text 24"/>
          <p:cNvSpPr/>
          <p:nvPr/>
        </p:nvSpPr>
        <p:spPr>
          <a:xfrm>
            <a:off x="4754880" y="2679192"/>
            <a:ext cx="438912" cy="640080"/>
          </a:xfrm>
          <a:prstGeom prst="rect">
            <a:avLst/>
          </a:prstGeom>
          <a:noFill/>
          <a:ln/>
        </p:spPr>
        <p:txBody>
          <a:bodyPr wrap="square" lIns="0" tIns="0" rIns="0" bIns="0" rtlCol="0" anchor="ctr"/>
          <a:lstStyle/>
          <a:p>
            <a:pPr marL="0" indent="0" algn="ctr">
              <a:buNone/>
            </a:pPr>
            <a:r>
              <a:rPr lang="en-US" sz="1000" b="1" dirty="0">
                <a:solidFill>
                  <a:srgbClr val="FFFFFF"/>
                </a:solidFill>
              </a:rPr>
              <a:t>R3</a:t>
            </a:r>
            <a:endParaRPr lang="en-US" sz="1000" dirty="0"/>
          </a:p>
        </p:txBody>
      </p:sp>
      <p:sp>
        <p:nvSpPr>
          <p:cNvPr id="27" name="Text 25"/>
          <p:cNvSpPr/>
          <p:nvPr/>
        </p:nvSpPr>
        <p:spPr>
          <a:xfrm>
            <a:off x="5257800" y="2706624"/>
            <a:ext cx="3474720" cy="585216"/>
          </a:xfrm>
          <a:prstGeom prst="rect">
            <a:avLst/>
          </a:prstGeom>
          <a:noFill/>
          <a:ln/>
        </p:spPr>
        <p:txBody>
          <a:bodyPr wrap="square" lIns="0" tIns="0" rIns="0" bIns="0" rtlCol="0" anchor="ctr"/>
          <a:lstStyle/>
          <a:p>
            <a:pPr marL="0" indent="0">
              <a:buNone/>
            </a:pPr>
            <a:r>
              <a:rPr lang="en-US" sz="1200" dirty="0">
                <a:solidFill>
                  <a:srgbClr val="0D1B2A"/>
                </a:solidFill>
              </a:rPr>
              <a:t>Implement proactive delay notifications: even a 1-point review improvement has significant revenue impact.</a:t>
            </a:r>
            <a:endParaRPr lang="en-US" sz="1200" dirty="0"/>
          </a:p>
        </p:txBody>
      </p:sp>
      <p:sp>
        <p:nvSpPr>
          <p:cNvPr id="28" name="Shape 26"/>
          <p:cNvSpPr/>
          <p:nvPr/>
        </p:nvSpPr>
        <p:spPr>
          <a:xfrm>
            <a:off x="4754880" y="3401568"/>
            <a:ext cx="4069080" cy="640080"/>
          </a:xfrm>
          <a:prstGeom prst="rect">
            <a:avLst/>
          </a:prstGeom>
          <a:solidFill>
            <a:srgbClr val="FFFFFF"/>
          </a:solidFill>
          <a:ln w="19050">
            <a:solidFill>
              <a:srgbClr val="0D9488"/>
            </a:solidFill>
            <a:prstDash val="solid"/>
          </a:ln>
        </p:spPr>
      </p:sp>
      <p:sp>
        <p:nvSpPr>
          <p:cNvPr id="30" name="Text 28"/>
          <p:cNvSpPr/>
          <p:nvPr/>
        </p:nvSpPr>
        <p:spPr>
          <a:xfrm>
            <a:off x="4754880" y="3401568"/>
            <a:ext cx="438912" cy="640080"/>
          </a:xfrm>
          <a:prstGeom prst="rect">
            <a:avLst/>
          </a:prstGeom>
          <a:noFill/>
          <a:ln/>
        </p:spPr>
        <p:txBody>
          <a:bodyPr wrap="square" lIns="0" tIns="0" rIns="0" bIns="0" rtlCol="0" anchor="ctr"/>
          <a:lstStyle/>
          <a:p>
            <a:pPr marL="0" indent="0" algn="ctr">
              <a:buNone/>
            </a:pPr>
            <a:r>
              <a:rPr lang="en-US" sz="1000" b="1" dirty="0">
                <a:solidFill>
                  <a:srgbClr val="FFFFFF"/>
                </a:solidFill>
              </a:rPr>
              <a:t>R4</a:t>
            </a:r>
            <a:endParaRPr lang="en-US" sz="1000" dirty="0"/>
          </a:p>
        </p:txBody>
      </p:sp>
      <p:sp>
        <p:nvSpPr>
          <p:cNvPr id="31" name="Text 29"/>
          <p:cNvSpPr/>
          <p:nvPr/>
        </p:nvSpPr>
        <p:spPr>
          <a:xfrm>
            <a:off x="5257800" y="3429000"/>
            <a:ext cx="3474720" cy="585216"/>
          </a:xfrm>
          <a:prstGeom prst="rect">
            <a:avLst/>
          </a:prstGeom>
          <a:noFill/>
          <a:ln/>
        </p:spPr>
        <p:txBody>
          <a:bodyPr wrap="square" lIns="0" tIns="0" rIns="0" bIns="0" rtlCol="0" anchor="ctr"/>
          <a:lstStyle/>
          <a:p>
            <a:pPr marL="0" indent="0">
              <a:buNone/>
            </a:pPr>
            <a:r>
              <a:rPr lang="en-US" sz="1200" dirty="0">
                <a:solidFill>
                  <a:srgbClr val="0D1B2A"/>
                </a:solidFill>
              </a:rPr>
              <a:t>Investigate RJ anomaly: high volume + 13.5% late rate represents the largest addressable risk pool.</a:t>
            </a:r>
            <a:endParaRPr lang="en-US" sz="1200" dirty="0"/>
          </a:p>
        </p:txBody>
      </p:sp>
      <p:sp>
        <p:nvSpPr>
          <p:cNvPr id="32" name="Shape 30"/>
          <p:cNvSpPr/>
          <p:nvPr/>
        </p:nvSpPr>
        <p:spPr>
          <a:xfrm>
            <a:off x="4754880" y="4123944"/>
            <a:ext cx="4069080" cy="640080"/>
          </a:xfrm>
          <a:prstGeom prst="rect">
            <a:avLst/>
          </a:prstGeom>
          <a:solidFill>
            <a:srgbClr val="FFFFFF"/>
          </a:solidFill>
          <a:ln w="19050">
            <a:solidFill>
              <a:srgbClr val="0D9488"/>
            </a:solidFill>
            <a:prstDash val="solid"/>
          </a:ln>
        </p:spPr>
      </p:sp>
      <p:sp>
        <p:nvSpPr>
          <p:cNvPr id="34" name="Text 32"/>
          <p:cNvSpPr/>
          <p:nvPr/>
        </p:nvSpPr>
        <p:spPr>
          <a:xfrm>
            <a:off x="4754880" y="4123944"/>
            <a:ext cx="438912" cy="640080"/>
          </a:xfrm>
          <a:prstGeom prst="rect">
            <a:avLst/>
          </a:prstGeom>
          <a:noFill/>
          <a:ln/>
        </p:spPr>
        <p:txBody>
          <a:bodyPr wrap="square" lIns="0" tIns="0" rIns="0" bIns="0" rtlCol="0" anchor="ctr"/>
          <a:lstStyle/>
          <a:p>
            <a:pPr marL="0" indent="0" algn="ctr">
              <a:buNone/>
            </a:pPr>
            <a:r>
              <a:rPr lang="en-US" sz="1000" b="1" dirty="0">
                <a:solidFill>
                  <a:srgbClr val="FFFFFF"/>
                </a:solidFill>
              </a:rPr>
              <a:t>R5</a:t>
            </a:r>
            <a:endParaRPr lang="en-US" sz="1000" dirty="0"/>
          </a:p>
        </p:txBody>
      </p:sp>
      <p:sp>
        <p:nvSpPr>
          <p:cNvPr id="35" name="Text 33"/>
          <p:cNvSpPr/>
          <p:nvPr/>
        </p:nvSpPr>
        <p:spPr>
          <a:xfrm>
            <a:off x="5257800" y="4151376"/>
            <a:ext cx="3474720" cy="585216"/>
          </a:xfrm>
          <a:prstGeom prst="rect">
            <a:avLst/>
          </a:prstGeom>
          <a:noFill/>
          <a:ln/>
        </p:spPr>
        <p:txBody>
          <a:bodyPr wrap="square" lIns="0" tIns="0" rIns="0" bIns="0" rtlCol="0" anchor="ctr"/>
          <a:lstStyle/>
          <a:p>
            <a:pPr marL="0" indent="0">
              <a:buNone/>
            </a:pPr>
            <a:r>
              <a:rPr lang="en-US" sz="1200" dirty="0"/>
              <a:t>Set Service Level Agreement targets: reduce super-late orders by 50% within 6 months as primary Key Performance Indicator.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sp>
      <p:sp>
        <p:nvSpPr>
          <p:cNvPr id="3" name="Text 1"/>
          <p:cNvSpPr/>
          <p:nvPr/>
        </p:nvSpPr>
        <p:spPr>
          <a:xfrm>
            <a:off x="457200" y="1463040"/>
            <a:ext cx="8229600" cy="914400"/>
          </a:xfrm>
          <a:prstGeom prst="rect">
            <a:avLst/>
          </a:prstGeom>
          <a:noFill/>
          <a:ln/>
        </p:spPr>
        <p:txBody>
          <a:bodyPr wrap="square" lIns="0" tIns="0" rIns="0" bIns="0" rtlCol="0" anchor="ctr"/>
          <a:lstStyle/>
          <a:p>
            <a:pPr marL="0" indent="0" algn="ctr">
              <a:buNone/>
            </a:pPr>
            <a:r>
              <a:rPr lang="en-US" sz="4200" b="1" dirty="0">
                <a:solidFill>
                  <a:srgbClr val="FFFFFF"/>
                </a:solidFill>
              </a:rPr>
              <a:t>Thank You</a:t>
            </a:r>
            <a:endParaRPr lang="en-US" sz="4200" dirty="0"/>
          </a:p>
        </p:txBody>
      </p:sp>
      <p:sp>
        <p:nvSpPr>
          <p:cNvPr id="4" name="Text 2"/>
          <p:cNvSpPr/>
          <p:nvPr/>
        </p:nvSpPr>
        <p:spPr>
          <a:xfrm>
            <a:off x="457200" y="2514600"/>
            <a:ext cx="8229600" cy="457200"/>
          </a:xfrm>
          <a:prstGeom prst="rect">
            <a:avLst/>
          </a:prstGeom>
          <a:noFill/>
          <a:ln/>
        </p:spPr>
        <p:txBody>
          <a:bodyPr wrap="square" lIns="0" tIns="0" rIns="0" bIns="0" rtlCol="0" anchor="ctr"/>
          <a:lstStyle/>
          <a:p>
            <a:pPr marL="0" indent="0" algn="ctr">
              <a:buNone/>
            </a:pPr>
            <a:r>
              <a:rPr lang="en-US" sz="1600" dirty="0">
                <a:solidFill>
                  <a:srgbClr val="94A3B8"/>
                </a:solidFill>
              </a:rPr>
              <a:t>Questions &amp; Discussion</a:t>
            </a:r>
            <a:endParaRPr lang="en-US" sz="1600" dirty="0"/>
          </a:p>
        </p:txBody>
      </p:sp>
      <p:sp>
        <p:nvSpPr>
          <p:cNvPr id="5" name="Shape 3"/>
          <p:cNvSpPr/>
          <p:nvPr/>
        </p:nvSpPr>
        <p:spPr>
          <a:xfrm>
            <a:off x="3200400" y="3108960"/>
            <a:ext cx="2743200" cy="36576"/>
          </a:xfrm>
          <a:prstGeom prst="rect">
            <a:avLst/>
          </a:prstGeom>
          <a:solidFill>
            <a:srgbClr val="0D9488"/>
          </a:solidFill>
          <a:ln w="12700">
            <a:solidFill>
              <a:srgbClr val="0D9488"/>
            </a:solidFill>
            <a:prstDash val="solid"/>
          </a:ln>
        </p:spPr>
      </p:sp>
      <p:sp>
        <p:nvSpPr>
          <p:cNvPr id="6" name="Text 4"/>
          <p:cNvSpPr/>
          <p:nvPr/>
        </p:nvSpPr>
        <p:spPr>
          <a:xfrm>
            <a:off x="457200" y="3291840"/>
            <a:ext cx="8229600" cy="365760"/>
          </a:xfrm>
          <a:prstGeom prst="rect">
            <a:avLst/>
          </a:prstGeom>
          <a:noFill/>
          <a:ln/>
        </p:spPr>
        <p:txBody>
          <a:bodyPr wrap="square" lIns="0" tIns="0" rIns="0" bIns="0" rtlCol="0" anchor="ctr"/>
          <a:lstStyle/>
          <a:p>
            <a:pPr marL="0" indent="0" algn="ctr">
              <a:buNone/>
            </a:pPr>
            <a:r>
              <a:rPr lang="en-US" sz="1100" dirty="0">
                <a:solidFill>
                  <a:srgbClr val="64748B"/>
                </a:solidFill>
              </a:rPr>
              <a:t>Olist Brazilian E-Commerce Dataset  |  Brazil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611</Words>
  <Application>Microsoft Office PowerPoint</Application>
  <PresentationFormat>On-screen Show (16:9)</PresentationFormat>
  <Paragraphs>108</Paragraphs>
  <Slides>10</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Veridi Logistics Audit</dc:title>
  <dc:subject>PptxGenJS Presentation</dc:subject>
  <dc:creator>Veridi Analytics Team</dc:creator>
  <cp:lastModifiedBy>Moustapha Mahamat Abdelhakim</cp:lastModifiedBy>
  <cp:revision>4</cp:revision>
  <dcterms:created xsi:type="dcterms:W3CDTF">2026-05-10T14:36:44Z</dcterms:created>
  <dcterms:modified xsi:type="dcterms:W3CDTF">2026-05-11T19:02:44Z</dcterms:modified>
</cp:coreProperties>
</file>